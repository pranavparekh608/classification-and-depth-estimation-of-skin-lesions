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77" r:id="rId4"/>
    <p:sldId id="260" r:id="rId5"/>
    <p:sldId id="261" r:id="rId6"/>
    <p:sldId id="264" r:id="rId7"/>
    <p:sldId id="263" r:id="rId8"/>
    <p:sldId id="265" r:id="rId9"/>
    <p:sldId id="278" r:id="rId10"/>
    <p:sldId id="266" r:id="rId11"/>
    <p:sldId id="267" r:id="rId12"/>
    <p:sldId id="268" r:id="rId13"/>
    <p:sldId id="269" r:id="rId14"/>
    <p:sldId id="276" r:id="rId15"/>
    <p:sldId id="271"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81176" autoAdjust="0"/>
  </p:normalViewPr>
  <p:slideViewPr>
    <p:cSldViewPr snapToGrid="0">
      <p:cViewPr varScale="1">
        <p:scale>
          <a:sx n="67" d="100"/>
          <a:sy n="67" d="100"/>
        </p:scale>
        <p:origin x="1296" y="53"/>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69096AF-48EE-4423-BC58-87D2D2DE269C}"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66EDE1CB-F617-4DEA-8405-1DE103B21E86}">
      <dgm:prSet/>
      <dgm:spPr/>
      <dgm:t>
        <a:bodyPr/>
        <a:lstStyle/>
        <a:p>
          <a:r>
            <a:rPr lang="en-US"/>
            <a:t>Malignant skin cancer is the multiplication of infected cells on the skin and into the body tissue. </a:t>
          </a:r>
        </a:p>
      </dgm:t>
    </dgm:pt>
    <dgm:pt modelId="{1AAE1568-0AE2-4BC4-B1CE-7F1F802BA1E6}" type="parTrans" cxnId="{E0331169-187C-4E89-B856-2A3A34E98045}">
      <dgm:prSet/>
      <dgm:spPr/>
      <dgm:t>
        <a:bodyPr/>
        <a:lstStyle/>
        <a:p>
          <a:endParaRPr lang="en-US"/>
        </a:p>
      </dgm:t>
    </dgm:pt>
    <dgm:pt modelId="{24D2D48A-F2D2-40A0-865A-E0FBD9A73EDA}" type="sibTrans" cxnId="{E0331169-187C-4E89-B856-2A3A34E98045}">
      <dgm:prSet/>
      <dgm:spPr/>
      <dgm:t>
        <a:bodyPr/>
        <a:lstStyle/>
        <a:p>
          <a:endParaRPr lang="en-US"/>
        </a:p>
      </dgm:t>
    </dgm:pt>
    <dgm:pt modelId="{30E925DC-6A15-43FA-95C8-941270ED521F}">
      <dgm:prSet/>
      <dgm:spPr/>
      <dgm:t>
        <a:bodyPr/>
        <a:lstStyle/>
        <a:p>
          <a:r>
            <a:rPr lang="en-US"/>
            <a:t>Malignant skin cancer comprises 5 stages, where the 4</a:t>
          </a:r>
          <a:r>
            <a:rPr lang="en-US" baseline="30000"/>
            <a:t>th</a:t>
          </a:r>
          <a:r>
            <a:rPr lang="en-US"/>
            <a:t> and 5</a:t>
          </a:r>
          <a:r>
            <a:rPr lang="en-US" baseline="30000"/>
            <a:t>th</a:t>
          </a:r>
          <a:r>
            <a:rPr lang="en-US"/>
            <a:t> stages are fatal if not detected early. </a:t>
          </a:r>
        </a:p>
      </dgm:t>
    </dgm:pt>
    <dgm:pt modelId="{C5DA967A-D241-4E3C-909A-F0597F938BA2}" type="parTrans" cxnId="{593D617E-BE1F-4E55-95DB-A95D283DD75A}">
      <dgm:prSet/>
      <dgm:spPr/>
      <dgm:t>
        <a:bodyPr/>
        <a:lstStyle/>
        <a:p>
          <a:endParaRPr lang="en-US"/>
        </a:p>
      </dgm:t>
    </dgm:pt>
    <dgm:pt modelId="{19E3A31E-CC6D-4D5B-8C3D-7EA3143AD191}" type="sibTrans" cxnId="{593D617E-BE1F-4E55-95DB-A95D283DD75A}">
      <dgm:prSet/>
      <dgm:spPr/>
      <dgm:t>
        <a:bodyPr/>
        <a:lstStyle/>
        <a:p>
          <a:endParaRPr lang="en-US"/>
        </a:p>
      </dgm:t>
    </dgm:pt>
    <dgm:pt modelId="{64F71CF1-7BF2-4179-A80D-1CC67344C3BB}">
      <dgm:prSet/>
      <dgm:spPr/>
      <dgm:t>
        <a:bodyPr/>
        <a:lstStyle/>
        <a:p>
          <a:r>
            <a:rPr lang="en-US" dirty="0"/>
            <a:t>Global</a:t>
          </a:r>
          <a:r>
            <a:rPr lang="en-US" baseline="0" dirty="0"/>
            <a:t> warming and the depletion of the ozone layer has increased exposure to UV rays, causing a steep rise in the number of melanoma cases over the past decade. </a:t>
          </a:r>
          <a:endParaRPr lang="en-US" dirty="0"/>
        </a:p>
      </dgm:t>
    </dgm:pt>
    <dgm:pt modelId="{9DE3E531-39D7-4874-9D1E-15C9BA126751}" type="parTrans" cxnId="{E8859B43-CC91-4674-AEB9-2BAA5CE373F1}">
      <dgm:prSet/>
      <dgm:spPr/>
      <dgm:t>
        <a:bodyPr/>
        <a:lstStyle/>
        <a:p>
          <a:endParaRPr lang="en-US"/>
        </a:p>
      </dgm:t>
    </dgm:pt>
    <dgm:pt modelId="{FDFAACCE-4966-4A14-B10C-45E08B008681}" type="sibTrans" cxnId="{E8859B43-CC91-4674-AEB9-2BAA5CE373F1}">
      <dgm:prSet/>
      <dgm:spPr/>
      <dgm:t>
        <a:bodyPr/>
        <a:lstStyle/>
        <a:p>
          <a:endParaRPr lang="en-US"/>
        </a:p>
      </dgm:t>
    </dgm:pt>
    <dgm:pt modelId="{F7B94BED-E1F0-49C7-AD7B-0027F21ED519}">
      <dgm:prSet/>
      <dgm:spPr/>
      <dgm:t>
        <a:bodyPr/>
        <a:lstStyle/>
        <a:p>
          <a:r>
            <a:rPr lang="en-US"/>
            <a:t>Treatment Visualization: A proposed framework where we integrate Vision and XR for a particular use case. </a:t>
          </a:r>
        </a:p>
      </dgm:t>
    </dgm:pt>
    <dgm:pt modelId="{D36C2B26-32B9-42D0-BD6C-832F7A8BC4DC}" type="parTrans" cxnId="{BC585050-8A17-42C5-A43B-B3A76312F009}">
      <dgm:prSet/>
      <dgm:spPr/>
      <dgm:t>
        <a:bodyPr/>
        <a:lstStyle/>
        <a:p>
          <a:endParaRPr lang="en-US"/>
        </a:p>
      </dgm:t>
    </dgm:pt>
    <dgm:pt modelId="{AA216FD6-50C4-49FD-B94B-791024732158}" type="sibTrans" cxnId="{BC585050-8A17-42C5-A43B-B3A76312F009}">
      <dgm:prSet/>
      <dgm:spPr/>
      <dgm:t>
        <a:bodyPr/>
        <a:lstStyle/>
        <a:p>
          <a:endParaRPr lang="en-US"/>
        </a:p>
      </dgm:t>
    </dgm:pt>
    <dgm:pt modelId="{8AD8FAC3-F823-444D-9F23-4A83E91B1812}">
      <dgm:prSet/>
      <dgm:spPr/>
      <dgm:t>
        <a:bodyPr/>
        <a:lstStyle/>
        <a:p>
          <a:r>
            <a:rPr lang="en-US" dirty="0"/>
            <a:t>We would like to use it to estimate the depth of a malignant skin lesion.</a:t>
          </a:r>
        </a:p>
      </dgm:t>
    </dgm:pt>
    <dgm:pt modelId="{B44685B4-DCFB-4C73-A961-A53613704358}" type="parTrans" cxnId="{C11F1C4D-0F08-4D47-A581-EC42433A58E2}">
      <dgm:prSet/>
      <dgm:spPr/>
      <dgm:t>
        <a:bodyPr/>
        <a:lstStyle/>
        <a:p>
          <a:endParaRPr lang="en-US"/>
        </a:p>
      </dgm:t>
    </dgm:pt>
    <dgm:pt modelId="{CCF7982B-A440-4268-B58A-A5869A68F0D3}" type="sibTrans" cxnId="{C11F1C4D-0F08-4D47-A581-EC42433A58E2}">
      <dgm:prSet/>
      <dgm:spPr/>
      <dgm:t>
        <a:bodyPr/>
        <a:lstStyle/>
        <a:p>
          <a:endParaRPr lang="en-US"/>
        </a:p>
      </dgm:t>
    </dgm:pt>
    <dgm:pt modelId="{52F905F2-DD90-4D6A-9A84-3BCB92A4A800}" type="pres">
      <dgm:prSet presAssocID="{C69096AF-48EE-4423-BC58-87D2D2DE269C}" presName="vert0" presStyleCnt="0">
        <dgm:presLayoutVars>
          <dgm:dir/>
          <dgm:animOne val="branch"/>
          <dgm:animLvl val="lvl"/>
        </dgm:presLayoutVars>
      </dgm:prSet>
      <dgm:spPr/>
    </dgm:pt>
    <dgm:pt modelId="{258A8C91-4026-437E-9896-1A7EE8843D62}" type="pres">
      <dgm:prSet presAssocID="{66EDE1CB-F617-4DEA-8405-1DE103B21E86}" presName="thickLine" presStyleLbl="alignNode1" presStyleIdx="0" presStyleCnt="5"/>
      <dgm:spPr/>
    </dgm:pt>
    <dgm:pt modelId="{EE9DD30E-54A2-4740-A9FF-CF984E683E95}" type="pres">
      <dgm:prSet presAssocID="{66EDE1CB-F617-4DEA-8405-1DE103B21E86}" presName="horz1" presStyleCnt="0"/>
      <dgm:spPr/>
    </dgm:pt>
    <dgm:pt modelId="{4B828B69-33D6-4CFE-BB36-66FF58420A12}" type="pres">
      <dgm:prSet presAssocID="{66EDE1CB-F617-4DEA-8405-1DE103B21E86}" presName="tx1" presStyleLbl="revTx" presStyleIdx="0" presStyleCnt="5"/>
      <dgm:spPr/>
    </dgm:pt>
    <dgm:pt modelId="{0E3BBB62-35A0-46B7-8E9E-2E2A800A052D}" type="pres">
      <dgm:prSet presAssocID="{66EDE1CB-F617-4DEA-8405-1DE103B21E86}" presName="vert1" presStyleCnt="0"/>
      <dgm:spPr/>
    </dgm:pt>
    <dgm:pt modelId="{B190F0A0-8CE2-4BDB-ACD1-6853AAAB5C60}" type="pres">
      <dgm:prSet presAssocID="{30E925DC-6A15-43FA-95C8-941270ED521F}" presName="thickLine" presStyleLbl="alignNode1" presStyleIdx="1" presStyleCnt="5"/>
      <dgm:spPr/>
    </dgm:pt>
    <dgm:pt modelId="{42C6B2E6-ADC8-4B3D-A146-3C8F66FC2E89}" type="pres">
      <dgm:prSet presAssocID="{30E925DC-6A15-43FA-95C8-941270ED521F}" presName="horz1" presStyleCnt="0"/>
      <dgm:spPr/>
    </dgm:pt>
    <dgm:pt modelId="{C7927896-EAC9-4655-9C93-BA39B58A145E}" type="pres">
      <dgm:prSet presAssocID="{30E925DC-6A15-43FA-95C8-941270ED521F}" presName="tx1" presStyleLbl="revTx" presStyleIdx="1" presStyleCnt="5"/>
      <dgm:spPr/>
    </dgm:pt>
    <dgm:pt modelId="{407707FE-1D12-4EDC-A9B5-7CCA8B43F6AF}" type="pres">
      <dgm:prSet presAssocID="{30E925DC-6A15-43FA-95C8-941270ED521F}" presName="vert1" presStyleCnt="0"/>
      <dgm:spPr/>
    </dgm:pt>
    <dgm:pt modelId="{CC51F25E-85E2-4AF6-923E-7BF48A5461A8}" type="pres">
      <dgm:prSet presAssocID="{64F71CF1-7BF2-4179-A80D-1CC67344C3BB}" presName="thickLine" presStyleLbl="alignNode1" presStyleIdx="2" presStyleCnt="5"/>
      <dgm:spPr/>
    </dgm:pt>
    <dgm:pt modelId="{A063B18E-9CE1-4D46-97F3-56E11B7BF30C}" type="pres">
      <dgm:prSet presAssocID="{64F71CF1-7BF2-4179-A80D-1CC67344C3BB}" presName="horz1" presStyleCnt="0"/>
      <dgm:spPr/>
    </dgm:pt>
    <dgm:pt modelId="{736F4B48-1016-4046-81D3-D97B869AF4B9}" type="pres">
      <dgm:prSet presAssocID="{64F71CF1-7BF2-4179-A80D-1CC67344C3BB}" presName="tx1" presStyleLbl="revTx" presStyleIdx="2" presStyleCnt="5"/>
      <dgm:spPr/>
    </dgm:pt>
    <dgm:pt modelId="{0AA4066F-12C9-4AEE-A86A-A98AEC612DE0}" type="pres">
      <dgm:prSet presAssocID="{64F71CF1-7BF2-4179-A80D-1CC67344C3BB}" presName="vert1" presStyleCnt="0"/>
      <dgm:spPr/>
    </dgm:pt>
    <dgm:pt modelId="{B6F75CEF-BA01-463E-964E-A28C78EF01C0}" type="pres">
      <dgm:prSet presAssocID="{F7B94BED-E1F0-49C7-AD7B-0027F21ED519}" presName="thickLine" presStyleLbl="alignNode1" presStyleIdx="3" presStyleCnt="5"/>
      <dgm:spPr/>
    </dgm:pt>
    <dgm:pt modelId="{62C202A9-9F17-4925-873E-AC6349EC09C6}" type="pres">
      <dgm:prSet presAssocID="{F7B94BED-E1F0-49C7-AD7B-0027F21ED519}" presName="horz1" presStyleCnt="0"/>
      <dgm:spPr/>
    </dgm:pt>
    <dgm:pt modelId="{2BB1129E-2143-4C92-8853-C17A7A1DAD9E}" type="pres">
      <dgm:prSet presAssocID="{F7B94BED-E1F0-49C7-AD7B-0027F21ED519}" presName="tx1" presStyleLbl="revTx" presStyleIdx="3" presStyleCnt="5"/>
      <dgm:spPr/>
    </dgm:pt>
    <dgm:pt modelId="{90B5529C-5624-4CDE-9969-CF3E251A85FE}" type="pres">
      <dgm:prSet presAssocID="{F7B94BED-E1F0-49C7-AD7B-0027F21ED519}" presName="vert1" presStyleCnt="0"/>
      <dgm:spPr/>
    </dgm:pt>
    <dgm:pt modelId="{58BB610A-133E-405E-A74E-20C56834D4A5}" type="pres">
      <dgm:prSet presAssocID="{8AD8FAC3-F823-444D-9F23-4A83E91B1812}" presName="thickLine" presStyleLbl="alignNode1" presStyleIdx="4" presStyleCnt="5"/>
      <dgm:spPr/>
    </dgm:pt>
    <dgm:pt modelId="{76B1261E-69B0-4AAF-9466-C46F2144DA50}" type="pres">
      <dgm:prSet presAssocID="{8AD8FAC3-F823-444D-9F23-4A83E91B1812}" presName="horz1" presStyleCnt="0"/>
      <dgm:spPr/>
    </dgm:pt>
    <dgm:pt modelId="{3555140D-7ABB-4D08-8764-4DC7FF039E62}" type="pres">
      <dgm:prSet presAssocID="{8AD8FAC3-F823-444D-9F23-4A83E91B1812}" presName="tx1" presStyleLbl="revTx" presStyleIdx="4" presStyleCnt="5"/>
      <dgm:spPr/>
    </dgm:pt>
    <dgm:pt modelId="{BFA18291-1D37-44B2-8B27-668EAB7F9575}" type="pres">
      <dgm:prSet presAssocID="{8AD8FAC3-F823-444D-9F23-4A83E91B1812}" presName="vert1" presStyleCnt="0"/>
      <dgm:spPr/>
    </dgm:pt>
  </dgm:ptLst>
  <dgm:cxnLst>
    <dgm:cxn modelId="{ADDB0301-4499-4251-9C0F-E288D9F7A304}" type="presOf" srcId="{30E925DC-6A15-43FA-95C8-941270ED521F}" destId="{C7927896-EAC9-4655-9C93-BA39B58A145E}" srcOrd="0" destOrd="0" presId="urn:microsoft.com/office/officeart/2008/layout/LinedList"/>
    <dgm:cxn modelId="{604E3A3A-CE14-432C-A3C1-59468D5DC8BF}" type="presOf" srcId="{F7B94BED-E1F0-49C7-AD7B-0027F21ED519}" destId="{2BB1129E-2143-4C92-8853-C17A7A1DAD9E}" srcOrd="0" destOrd="0" presId="urn:microsoft.com/office/officeart/2008/layout/LinedList"/>
    <dgm:cxn modelId="{96144362-8844-423B-8178-FE815CEF5E8A}" type="presOf" srcId="{8AD8FAC3-F823-444D-9F23-4A83E91B1812}" destId="{3555140D-7ABB-4D08-8764-4DC7FF039E62}" srcOrd="0" destOrd="0" presId="urn:microsoft.com/office/officeart/2008/layout/LinedList"/>
    <dgm:cxn modelId="{E8859B43-CC91-4674-AEB9-2BAA5CE373F1}" srcId="{C69096AF-48EE-4423-BC58-87D2D2DE269C}" destId="{64F71CF1-7BF2-4179-A80D-1CC67344C3BB}" srcOrd="2" destOrd="0" parTransId="{9DE3E531-39D7-4874-9D1E-15C9BA126751}" sibTransId="{FDFAACCE-4966-4A14-B10C-45E08B008681}"/>
    <dgm:cxn modelId="{E0331169-187C-4E89-B856-2A3A34E98045}" srcId="{C69096AF-48EE-4423-BC58-87D2D2DE269C}" destId="{66EDE1CB-F617-4DEA-8405-1DE103B21E86}" srcOrd="0" destOrd="0" parTransId="{1AAE1568-0AE2-4BC4-B1CE-7F1F802BA1E6}" sibTransId="{24D2D48A-F2D2-40A0-865A-E0FBD9A73EDA}"/>
    <dgm:cxn modelId="{C11F1C4D-0F08-4D47-A581-EC42433A58E2}" srcId="{C69096AF-48EE-4423-BC58-87D2D2DE269C}" destId="{8AD8FAC3-F823-444D-9F23-4A83E91B1812}" srcOrd="4" destOrd="0" parTransId="{B44685B4-DCFB-4C73-A961-A53613704358}" sibTransId="{CCF7982B-A440-4268-B58A-A5869A68F0D3}"/>
    <dgm:cxn modelId="{BC585050-8A17-42C5-A43B-B3A76312F009}" srcId="{C69096AF-48EE-4423-BC58-87D2D2DE269C}" destId="{F7B94BED-E1F0-49C7-AD7B-0027F21ED519}" srcOrd="3" destOrd="0" parTransId="{D36C2B26-32B9-42D0-BD6C-832F7A8BC4DC}" sibTransId="{AA216FD6-50C4-49FD-B94B-791024732158}"/>
    <dgm:cxn modelId="{CDCDB670-C617-4DF0-99CB-132268F430C9}" type="presOf" srcId="{66EDE1CB-F617-4DEA-8405-1DE103B21E86}" destId="{4B828B69-33D6-4CFE-BB36-66FF58420A12}" srcOrd="0" destOrd="0" presId="urn:microsoft.com/office/officeart/2008/layout/LinedList"/>
    <dgm:cxn modelId="{593D617E-BE1F-4E55-95DB-A95D283DD75A}" srcId="{C69096AF-48EE-4423-BC58-87D2D2DE269C}" destId="{30E925DC-6A15-43FA-95C8-941270ED521F}" srcOrd="1" destOrd="0" parTransId="{C5DA967A-D241-4E3C-909A-F0597F938BA2}" sibTransId="{19E3A31E-CC6D-4D5B-8C3D-7EA3143AD191}"/>
    <dgm:cxn modelId="{AA904F91-F734-40EC-BEAE-AEE826295A5C}" type="presOf" srcId="{64F71CF1-7BF2-4179-A80D-1CC67344C3BB}" destId="{736F4B48-1016-4046-81D3-D97B869AF4B9}" srcOrd="0" destOrd="0" presId="urn:microsoft.com/office/officeart/2008/layout/LinedList"/>
    <dgm:cxn modelId="{53EEC5FA-4954-4A41-9315-FBC39E12E1F2}" type="presOf" srcId="{C69096AF-48EE-4423-BC58-87D2D2DE269C}" destId="{52F905F2-DD90-4D6A-9A84-3BCB92A4A800}" srcOrd="0" destOrd="0" presId="urn:microsoft.com/office/officeart/2008/layout/LinedList"/>
    <dgm:cxn modelId="{0FDA10AF-9ED3-4291-A774-14A76AAA4955}" type="presParOf" srcId="{52F905F2-DD90-4D6A-9A84-3BCB92A4A800}" destId="{258A8C91-4026-437E-9896-1A7EE8843D62}" srcOrd="0" destOrd="0" presId="urn:microsoft.com/office/officeart/2008/layout/LinedList"/>
    <dgm:cxn modelId="{F0A84D5E-42FB-47E4-807B-F63D02D3520B}" type="presParOf" srcId="{52F905F2-DD90-4D6A-9A84-3BCB92A4A800}" destId="{EE9DD30E-54A2-4740-A9FF-CF984E683E95}" srcOrd="1" destOrd="0" presId="urn:microsoft.com/office/officeart/2008/layout/LinedList"/>
    <dgm:cxn modelId="{01BB28B5-1C30-4BB9-9C29-1137B82DEE55}" type="presParOf" srcId="{EE9DD30E-54A2-4740-A9FF-CF984E683E95}" destId="{4B828B69-33D6-4CFE-BB36-66FF58420A12}" srcOrd="0" destOrd="0" presId="urn:microsoft.com/office/officeart/2008/layout/LinedList"/>
    <dgm:cxn modelId="{E8D68C09-A211-4E99-BD0E-D93A20EA73A6}" type="presParOf" srcId="{EE9DD30E-54A2-4740-A9FF-CF984E683E95}" destId="{0E3BBB62-35A0-46B7-8E9E-2E2A800A052D}" srcOrd="1" destOrd="0" presId="urn:microsoft.com/office/officeart/2008/layout/LinedList"/>
    <dgm:cxn modelId="{20620304-CE70-46D5-A636-D3270D7ACD35}" type="presParOf" srcId="{52F905F2-DD90-4D6A-9A84-3BCB92A4A800}" destId="{B190F0A0-8CE2-4BDB-ACD1-6853AAAB5C60}" srcOrd="2" destOrd="0" presId="urn:microsoft.com/office/officeart/2008/layout/LinedList"/>
    <dgm:cxn modelId="{D8534BC7-5F15-4827-81EA-9DF85DF4FF78}" type="presParOf" srcId="{52F905F2-DD90-4D6A-9A84-3BCB92A4A800}" destId="{42C6B2E6-ADC8-4B3D-A146-3C8F66FC2E89}" srcOrd="3" destOrd="0" presId="urn:microsoft.com/office/officeart/2008/layout/LinedList"/>
    <dgm:cxn modelId="{C703A29A-194C-4DF7-948B-43EDAFB80322}" type="presParOf" srcId="{42C6B2E6-ADC8-4B3D-A146-3C8F66FC2E89}" destId="{C7927896-EAC9-4655-9C93-BA39B58A145E}" srcOrd="0" destOrd="0" presId="urn:microsoft.com/office/officeart/2008/layout/LinedList"/>
    <dgm:cxn modelId="{D6CA52E2-AE35-4128-A705-BC2012792FCB}" type="presParOf" srcId="{42C6B2E6-ADC8-4B3D-A146-3C8F66FC2E89}" destId="{407707FE-1D12-4EDC-A9B5-7CCA8B43F6AF}" srcOrd="1" destOrd="0" presId="urn:microsoft.com/office/officeart/2008/layout/LinedList"/>
    <dgm:cxn modelId="{E0725B31-452F-49B4-96A7-92576390F16F}" type="presParOf" srcId="{52F905F2-DD90-4D6A-9A84-3BCB92A4A800}" destId="{CC51F25E-85E2-4AF6-923E-7BF48A5461A8}" srcOrd="4" destOrd="0" presId="urn:microsoft.com/office/officeart/2008/layout/LinedList"/>
    <dgm:cxn modelId="{EB630082-701E-44CA-ABF7-AD46715BD1C1}" type="presParOf" srcId="{52F905F2-DD90-4D6A-9A84-3BCB92A4A800}" destId="{A063B18E-9CE1-4D46-97F3-56E11B7BF30C}" srcOrd="5" destOrd="0" presId="urn:microsoft.com/office/officeart/2008/layout/LinedList"/>
    <dgm:cxn modelId="{13539EA2-29AE-45E3-A021-C8368025FE88}" type="presParOf" srcId="{A063B18E-9CE1-4D46-97F3-56E11B7BF30C}" destId="{736F4B48-1016-4046-81D3-D97B869AF4B9}" srcOrd="0" destOrd="0" presId="urn:microsoft.com/office/officeart/2008/layout/LinedList"/>
    <dgm:cxn modelId="{AA9C7438-6C42-4AE0-8EA7-99D741402AC7}" type="presParOf" srcId="{A063B18E-9CE1-4D46-97F3-56E11B7BF30C}" destId="{0AA4066F-12C9-4AEE-A86A-A98AEC612DE0}" srcOrd="1" destOrd="0" presId="urn:microsoft.com/office/officeart/2008/layout/LinedList"/>
    <dgm:cxn modelId="{DA7DF576-BD95-4625-B8C5-4E4F990277ED}" type="presParOf" srcId="{52F905F2-DD90-4D6A-9A84-3BCB92A4A800}" destId="{B6F75CEF-BA01-463E-964E-A28C78EF01C0}" srcOrd="6" destOrd="0" presId="urn:microsoft.com/office/officeart/2008/layout/LinedList"/>
    <dgm:cxn modelId="{5FFAB9F8-64BC-47B9-AF88-94FF734CEDCC}" type="presParOf" srcId="{52F905F2-DD90-4D6A-9A84-3BCB92A4A800}" destId="{62C202A9-9F17-4925-873E-AC6349EC09C6}" srcOrd="7" destOrd="0" presId="urn:microsoft.com/office/officeart/2008/layout/LinedList"/>
    <dgm:cxn modelId="{49563FEC-4FCD-4509-8B69-04EFCCDD1FEA}" type="presParOf" srcId="{62C202A9-9F17-4925-873E-AC6349EC09C6}" destId="{2BB1129E-2143-4C92-8853-C17A7A1DAD9E}" srcOrd="0" destOrd="0" presId="urn:microsoft.com/office/officeart/2008/layout/LinedList"/>
    <dgm:cxn modelId="{B4E1AF06-CA36-4396-800D-CBEAF729D07A}" type="presParOf" srcId="{62C202A9-9F17-4925-873E-AC6349EC09C6}" destId="{90B5529C-5624-4CDE-9969-CF3E251A85FE}" srcOrd="1" destOrd="0" presId="urn:microsoft.com/office/officeart/2008/layout/LinedList"/>
    <dgm:cxn modelId="{416EC61D-406B-4CD7-96F2-E26F5F5DB9AA}" type="presParOf" srcId="{52F905F2-DD90-4D6A-9A84-3BCB92A4A800}" destId="{58BB610A-133E-405E-A74E-20C56834D4A5}" srcOrd="8" destOrd="0" presId="urn:microsoft.com/office/officeart/2008/layout/LinedList"/>
    <dgm:cxn modelId="{9502C0EF-C3D3-4AFF-BACF-BAB1E692CFC9}" type="presParOf" srcId="{52F905F2-DD90-4D6A-9A84-3BCB92A4A800}" destId="{76B1261E-69B0-4AAF-9466-C46F2144DA50}" srcOrd="9" destOrd="0" presId="urn:microsoft.com/office/officeart/2008/layout/LinedList"/>
    <dgm:cxn modelId="{72C8EA30-9593-4581-AF31-AF908A9B5677}" type="presParOf" srcId="{76B1261E-69B0-4AAF-9466-C46F2144DA50}" destId="{3555140D-7ABB-4D08-8764-4DC7FF039E62}" srcOrd="0" destOrd="0" presId="urn:microsoft.com/office/officeart/2008/layout/LinedList"/>
    <dgm:cxn modelId="{CD073C69-26B6-412F-856B-D452E3FF6F94}" type="presParOf" srcId="{76B1261E-69B0-4AAF-9466-C46F2144DA50}" destId="{BFA18291-1D37-44B2-8B27-668EAB7F9575}"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AF237B-0FA6-4FD6-9020-C75EFDD15109}"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9436A2BE-E97E-4082-BE79-BDFC19564A2E}">
      <dgm:prSet/>
      <dgm:spPr/>
      <dgm:t>
        <a:bodyPr/>
        <a:lstStyle/>
        <a:p>
          <a:pPr>
            <a:lnSpc>
              <a:spcPct val="100000"/>
            </a:lnSpc>
            <a:defRPr cap="all"/>
          </a:pPr>
          <a:r>
            <a:rPr lang="en-US" dirty="0"/>
            <a:t>To USE THE CONCEPT OF TREATMENT VISUALIZATION FOR OTHER HEALTH CASES</a:t>
          </a:r>
        </a:p>
      </dgm:t>
    </dgm:pt>
    <dgm:pt modelId="{A3BBB0EC-D788-4D88-8336-4D785D88E7A5}" type="parTrans" cxnId="{5061CF67-DF6A-42B4-ACBA-A7AE1C1131EC}">
      <dgm:prSet/>
      <dgm:spPr/>
      <dgm:t>
        <a:bodyPr/>
        <a:lstStyle/>
        <a:p>
          <a:endParaRPr lang="en-US"/>
        </a:p>
      </dgm:t>
    </dgm:pt>
    <dgm:pt modelId="{7D593DC0-2CA8-4A26-BBF7-09FCF7B7A840}" type="sibTrans" cxnId="{5061CF67-DF6A-42B4-ACBA-A7AE1C1131EC}">
      <dgm:prSet/>
      <dgm:spPr/>
      <dgm:t>
        <a:bodyPr/>
        <a:lstStyle/>
        <a:p>
          <a:endParaRPr lang="en-US"/>
        </a:p>
      </dgm:t>
    </dgm:pt>
    <dgm:pt modelId="{DC17F195-B7EC-4E42-84DD-E0674952423E}">
      <dgm:prSet/>
      <dgm:spPr/>
      <dgm:t>
        <a:bodyPr/>
        <a:lstStyle/>
        <a:p>
          <a:pPr>
            <a:lnSpc>
              <a:spcPct val="100000"/>
            </a:lnSpc>
            <a:defRPr cap="all"/>
          </a:pPr>
          <a:r>
            <a:rPr lang="en-US" dirty="0"/>
            <a:t>Evaluation of the generated holograms by a physician for a real-world application</a:t>
          </a:r>
        </a:p>
      </dgm:t>
    </dgm:pt>
    <dgm:pt modelId="{D4C1454F-D889-4BCD-8DC0-4DF53C339EE9}" type="parTrans" cxnId="{23D35FB7-096D-4E77-B81A-860DCBDE6E38}">
      <dgm:prSet/>
      <dgm:spPr/>
      <dgm:t>
        <a:bodyPr/>
        <a:lstStyle/>
        <a:p>
          <a:endParaRPr lang="en-US"/>
        </a:p>
      </dgm:t>
    </dgm:pt>
    <dgm:pt modelId="{D385B3E5-EB88-4571-AD6B-85ED1629249F}" type="sibTrans" cxnId="{23D35FB7-096D-4E77-B81A-860DCBDE6E38}">
      <dgm:prSet/>
      <dgm:spPr/>
      <dgm:t>
        <a:bodyPr/>
        <a:lstStyle/>
        <a:p>
          <a:endParaRPr lang="en-US"/>
        </a:p>
      </dgm:t>
    </dgm:pt>
    <dgm:pt modelId="{2A329319-1AE8-4916-AA86-D5459CC7B29F}">
      <dgm:prSet/>
      <dgm:spPr/>
      <dgm:t>
        <a:bodyPr/>
        <a:lstStyle/>
        <a:p>
          <a:pPr>
            <a:lnSpc>
              <a:spcPct val="100000"/>
            </a:lnSpc>
            <a:defRPr cap="all"/>
          </a:pPr>
          <a:r>
            <a:rPr lang="en-US"/>
            <a:t>Evaluation of generated holograms from a technical standpoint: fidelity and validity</a:t>
          </a:r>
        </a:p>
      </dgm:t>
    </dgm:pt>
    <dgm:pt modelId="{01EC461A-E680-411E-A833-8BA28CC61824}" type="parTrans" cxnId="{15A6F0C8-92FD-4339-8D09-E9D454475E20}">
      <dgm:prSet/>
      <dgm:spPr/>
      <dgm:t>
        <a:bodyPr/>
        <a:lstStyle/>
        <a:p>
          <a:endParaRPr lang="en-US"/>
        </a:p>
      </dgm:t>
    </dgm:pt>
    <dgm:pt modelId="{780FE3D1-E294-4F1D-8ADC-2C73FB6A0F49}" type="sibTrans" cxnId="{15A6F0C8-92FD-4339-8D09-E9D454475E20}">
      <dgm:prSet/>
      <dgm:spPr/>
      <dgm:t>
        <a:bodyPr/>
        <a:lstStyle/>
        <a:p>
          <a:endParaRPr lang="en-US"/>
        </a:p>
      </dgm:t>
    </dgm:pt>
    <dgm:pt modelId="{9B587DBE-0AEE-4CE1-881D-0034293478C7}" type="pres">
      <dgm:prSet presAssocID="{60AF237B-0FA6-4FD6-9020-C75EFDD15109}" presName="root" presStyleCnt="0">
        <dgm:presLayoutVars>
          <dgm:dir/>
          <dgm:resizeHandles val="exact"/>
        </dgm:presLayoutVars>
      </dgm:prSet>
      <dgm:spPr/>
    </dgm:pt>
    <dgm:pt modelId="{7AFA662C-1F27-4E94-BCCA-70507FD59766}" type="pres">
      <dgm:prSet presAssocID="{9436A2BE-E97E-4082-BE79-BDFC19564A2E}" presName="compNode" presStyleCnt="0"/>
      <dgm:spPr/>
    </dgm:pt>
    <dgm:pt modelId="{416D3907-CCE8-49B9-881E-3CCD149F4FF4}" type="pres">
      <dgm:prSet presAssocID="{9436A2BE-E97E-4082-BE79-BDFC19564A2E}" presName="iconBgRect" presStyleLbl="bgShp" presStyleIdx="0" presStyleCnt="3"/>
      <dgm:spPr>
        <a:prstGeom prst="round2DiagRect">
          <a:avLst>
            <a:gd name="adj1" fmla="val 29727"/>
            <a:gd name="adj2" fmla="val 0"/>
          </a:avLst>
        </a:prstGeom>
      </dgm:spPr>
    </dgm:pt>
    <dgm:pt modelId="{D87ED1F7-0211-4FFB-B5BE-840078A6B8EE}" type="pres">
      <dgm:prSet presAssocID="{9436A2BE-E97E-4082-BE79-BDFC19564A2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BAD10CFC-CCB6-4F2E-A880-98AB9AA48A3F}" type="pres">
      <dgm:prSet presAssocID="{9436A2BE-E97E-4082-BE79-BDFC19564A2E}" presName="spaceRect" presStyleCnt="0"/>
      <dgm:spPr/>
    </dgm:pt>
    <dgm:pt modelId="{7FBA2EC3-602A-4925-9E01-50625F35830F}" type="pres">
      <dgm:prSet presAssocID="{9436A2BE-E97E-4082-BE79-BDFC19564A2E}" presName="textRect" presStyleLbl="revTx" presStyleIdx="0" presStyleCnt="3">
        <dgm:presLayoutVars>
          <dgm:chMax val="1"/>
          <dgm:chPref val="1"/>
        </dgm:presLayoutVars>
      </dgm:prSet>
      <dgm:spPr/>
    </dgm:pt>
    <dgm:pt modelId="{503C996D-1F4A-47EE-8ABF-E6DFC4F5C775}" type="pres">
      <dgm:prSet presAssocID="{7D593DC0-2CA8-4A26-BBF7-09FCF7B7A840}" presName="sibTrans" presStyleCnt="0"/>
      <dgm:spPr/>
    </dgm:pt>
    <dgm:pt modelId="{27150AFE-BB0E-45DD-9243-D9FC1E2FF6C0}" type="pres">
      <dgm:prSet presAssocID="{DC17F195-B7EC-4E42-84DD-E0674952423E}" presName="compNode" presStyleCnt="0"/>
      <dgm:spPr/>
    </dgm:pt>
    <dgm:pt modelId="{1286377C-5436-4490-9F7B-3DAC9DC9418F}" type="pres">
      <dgm:prSet presAssocID="{DC17F195-B7EC-4E42-84DD-E0674952423E}" presName="iconBgRect" presStyleLbl="bgShp" presStyleIdx="1" presStyleCnt="3"/>
      <dgm:spPr>
        <a:prstGeom prst="round2DiagRect">
          <a:avLst>
            <a:gd name="adj1" fmla="val 29727"/>
            <a:gd name="adj2" fmla="val 0"/>
          </a:avLst>
        </a:prstGeom>
      </dgm:spPr>
    </dgm:pt>
    <dgm:pt modelId="{AD970D01-836F-4F15-9F06-82D8D7AD564D}" type="pres">
      <dgm:prSet presAssocID="{DC17F195-B7EC-4E42-84DD-E0674952423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6D139D2F-27B3-4BF2-B5B6-BC46BB2C875A}" type="pres">
      <dgm:prSet presAssocID="{DC17F195-B7EC-4E42-84DD-E0674952423E}" presName="spaceRect" presStyleCnt="0"/>
      <dgm:spPr/>
    </dgm:pt>
    <dgm:pt modelId="{9FE0BF2F-3156-487F-8595-32CAF5895BF8}" type="pres">
      <dgm:prSet presAssocID="{DC17F195-B7EC-4E42-84DD-E0674952423E}" presName="textRect" presStyleLbl="revTx" presStyleIdx="1" presStyleCnt="3">
        <dgm:presLayoutVars>
          <dgm:chMax val="1"/>
          <dgm:chPref val="1"/>
        </dgm:presLayoutVars>
      </dgm:prSet>
      <dgm:spPr/>
    </dgm:pt>
    <dgm:pt modelId="{2BB325D6-A7B4-4F99-9E85-05B9D0CE143C}" type="pres">
      <dgm:prSet presAssocID="{D385B3E5-EB88-4571-AD6B-85ED1629249F}" presName="sibTrans" presStyleCnt="0"/>
      <dgm:spPr/>
    </dgm:pt>
    <dgm:pt modelId="{D31742B5-D4EA-4007-B24E-3B76DE338C93}" type="pres">
      <dgm:prSet presAssocID="{2A329319-1AE8-4916-AA86-D5459CC7B29F}" presName="compNode" presStyleCnt="0"/>
      <dgm:spPr/>
    </dgm:pt>
    <dgm:pt modelId="{B2AC457A-0AA1-4DA0-9DC4-99572B146878}" type="pres">
      <dgm:prSet presAssocID="{2A329319-1AE8-4916-AA86-D5459CC7B29F}" presName="iconBgRect" presStyleLbl="bgShp" presStyleIdx="2" presStyleCnt="3"/>
      <dgm:spPr>
        <a:prstGeom prst="round2DiagRect">
          <a:avLst>
            <a:gd name="adj1" fmla="val 29727"/>
            <a:gd name="adj2" fmla="val 0"/>
          </a:avLst>
        </a:prstGeom>
      </dgm:spPr>
    </dgm:pt>
    <dgm:pt modelId="{CA6CE872-5CCC-4EEC-8505-D6D126C732CA}" type="pres">
      <dgm:prSet presAssocID="{2A329319-1AE8-4916-AA86-D5459CC7B29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est tubes"/>
        </a:ext>
      </dgm:extLst>
    </dgm:pt>
    <dgm:pt modelId="{F9C0CFB6-DEC4-4B2F-A38E-A9C9D8118F7F}" type="pres">
      <dgm:prSet presAssocID="{2A329319-1AE8-4916-AA86-D5459CC7B29F}" presName="spaceRect" presStyleCnt="0"/>
      <dgm:spPr/>
    </dgm:pt>
    <dgm:pt modelId="{564F116A-5644-4936-B3D9-855345B31B53}" type="pres">
      <dgm:prSet presAssocID="{2A329319-1AE8-4916-AA86-D5459CC7B29F}" presName="textRect" presStyleLbl="revTx" presStyleIdx="2" presStyleCnt="3">
        <dgm:presLayoutVars>
          <dgm:chMax val="1"/>
          <dgm:chPref val="1"/>
        </dgm:presLayoutVars>
      </dgm:prSet>
      <dgm:spPr/>
    </dgm:pt>
  </dgm:ptLst>
  <dgm:cxnLst>
    <dgm:cxn modelId="{8D59D032-343B-4E2B-BFA0-034AF8C3E699}" type="presOf" srcId="{DC17F195-B7EC-4E42-84DD-E0674952423E}" destId="{9FE0BF2F-3156-487F-8595-32CAF5895BF8}" srcOrd="0" destOrd="0" presId="urn:microsoft.com/office/officeart/2018/5/layout/IconLeafLabelList"/>
    <dgm:cxn modelId="{5061CF67-DF6A-42B4-ACBA-A7AE1C1131EC}" srcId="{60AF237B-0FA6-4FD6-9020-C75EFDD15109}" destId="{9436A2BE-E97E-4082-BE79-BDFC19564A2E}" srcOrd="0" destOrd="0" parTransId="{A3BBB0EC-D788-4D88-8336-4D785D88E7A5}" sibTransId="{7D593DC0-2CA8-4A26-BBF7-09FCF7B7A840}"/>
    <dgm:cxn modelId="{F895D887-95BE-4CB2-B744-0E341F59B9F5}" type="presOf" srcId="{60AF237B-0FA6-4FD6-9020-C75EFDD15109}" destId="{9B587DBE-0AEE-4CE1-881D-0034293478C7}" srcOrd="0" destOrd="0" presId="urn:microsoft.com/office/officeart/2018/5/layout/IconLeafLabelList"/>
    <dgm:cxn modelId="{87C9D9B4-DFA1-4125-881C-77E2BADD8DFB}" type="presOf" srcId="{2A329319-1AE8-4916-AA86-D5459CC7B29F}" destId="{564F116A-5644-4936-B3D9-855345B31B53}" srcOrd="0" destOrd="0" presId="urn:microsoft.com/office/officeart/2018/5/layout/IconLeafLabelList"/>
    <dgm:cxn modelId="{23D35FB7-096D-4E77-B81A-860DCBDE6E38}" srcId="{60AF237B-0FA6-4FD6-9020-C75EFDD15109}" destId="{DC17F195-B7EC-4E42-84DD-E0674952423E}" srcOrd="1" destOrd="0" parTransId="{D4C1454F-D889-4BCD-8DC0-4DF53C339EE9}" sibTransId="{D385B3E5-EB88-4571-AD6B-85ED1629249F}"/>
    <dgm:cxn modelId="{A86F88BE-2965-43CA-95BD-6FB2EB1731FB}" type="presOf" srcId="{9436A2BE-E97E-4082-BE79-BDFC19564A2E}" destId="{7FBA2EC3-602A-4925-9E01-50625F35830F}" srcOrd="0" destOrd="0" presId="urn:microsoft.com/office/officeart/2018/5/layout/IconLeafLabelList"/>
    <dgm:cxn modelId="{15A6F0C8-92FD-4339-8D09-E9D454475E20}" srcId="{60AF237B-0FA6-4FD6-9020-C75EFDD15109}" destId="{2A329319-1AE8-4916-AA86-D5459CC7B29F}" srcOrd="2" destOrd="0" parTransId="{01EC461A-E680-411E-A833-8BA28CC61824}" sibTransId="{780FE3D1-E294-4F1D-8ADC-2C73FB6A0F49}"/>
    <dgm:cxn modelId="{23D20220-51BA-4608-9EC2-D67DD225E923}" type="presParOf" srcId="{9B587DBE-0AEE-4CE1-881D-0034293478C7}" destId="{7AFA662C-1F27-4E94-BCCA-70507FD59766}" srcOrd="0" destOrd="0" presId="urn:microsoft.com/office/officeart/2018/5/layout/IconLeafLabelList"/>
    <dgm:cxn modelId="{FB0C5C40-E8D5-4382-BA8A-76A1A1260D4B}" type="presParOf" srcId="{7AFA662C-1F27-4E94-BCCA-70507FD59766}" destId="{416D3907-CCE8-49B9-881E-3CCD149F4FF4}" srcOrd="0" destOrd="0" presId="urn:microsoft.com/office/officeart/2018/5/layout/IconLeafLabelList"/>
    <dgm:cxn modelId="{E623A948-3536-4645-BF5C-D13F25602147}" type="presParOf" srcId="{7AFA662C-1F27-4E94-BCCA-70507FD59766}" destId="{D87ED1F7-0211-4FFB-B5BE-840078A6B8EE}" srcOrd="1" destOrd="0" presId="urn:microsoft.com/office/officeart/2018/5/layout/IconLeafLabelList"/>
    <dgm:cxn modelId="{E9219A10-3436-4A4F-811E-9F53077ED46A}" type="presParOf" srcId="{7AFA662C-1F27-4E94-BCCA-70507FD59766}" destId="{BAD10CFC-CCB6-4F2E-A880-98AB9AA48A3F}" srcOrd="2" destOrd="0" presId="urn:microsoft.com/office/officeart/2018/5/layout/IconLeafLabelList"/>
    <dgm:cxn modelId="{CF993AEE-8E09-445F-8753-C8231E52F58C}" type="presParOf" srcId="{7AFA662C-1F27-4E94-BCCA-70507FD59766}" destId="{7FBA2EC3-602A-4925-9E01-50625F35830F}" srcOrd="3" destOrd="0" presId="urn:microsoft.com/office/officeart/2018/5/layout/IconLeafLabelList"/>
    <dgm:cxn modelId="{7986A0F4-FFB2-4062-9688-A301CDE3569A}" type="presParOf" srcId="{9B587DBE-0AEE-4CE1-881D-0034293478C7}" destId="{503C996D-1F4A-47EE-8ABF-E6DFC4F5C775}" srcOrd="1" destOrd="0" presId="urn:microsoft.com/office/officeart/2018/5/layout/IconLeafLabelList"/>
    <dgm:cxn modelId="{C71485F1-E597-46B9-ABEB-645DCC2A36C6}" type="presParOf" srcId="{9B587DBE-0AEE-4CE1-881D-0034293478C7}" destId="{27150AFE-BB0E-45DD-9243-D9FC1E2FF6C0}" srcOrd="2" destOrd="0" presId="urn:microsoft.com/office/officeart/2018/5/layout/IconLeafLabelList"/>
    <dgm:cxn modelId="{E744AA39-67E1-48C4-89F7-5E8447B81E46}" type="presParOf" srcId="{27150AFE-BB0E-45DD-9243-D9FC1E2FF6C0}" destId="{1286377C-5436-4490-9F7B-3DAC9DC9418F}" srcOrd="0" destOrd="0" presId="urn:microsoft.com/office/officeart/2018/5/layout/IconLeafLabelList"/>
    <dgm:cxn modelId="{5AAFFA90-1CDB-4552-9063-3D69E574D578}" type="presParOf" srcId="{27150AFE-BB0E-45DD-9243-D9FC1E2FF6C0}" destId="{AD970D01-836F-4F15-9F06-82D8D7AD564D}" srcOrd="1" destOrd="0" presId="urn:microsoft.com/office/officeart/2018/5/layout/IconLeafLabelList"/>
    <dgm:cxn modelId="{0C94B76E-A498-4C63-AFE2-3AD148B82CBF}" type="presParOf" srcId="{27150AFE-BB0E-45DD-9243-D9FC1E2FF6C0}" destId="{6D139D2F-27B3-4BF2-B5B6-BC46BB2C875A}" srcOrd="2" destOrd="0" presId="urn:microsoft.com/office/officeart/2018/5/layout/IconLeafLabelList"/>
    <dgm:cxn modelId="{393CE107-BB10-4439-91C7-96FD00EE5F7C}" type="presParOf" srcId="{27150AFE-BB0E-45DD-9243-D9FC1E2FF6C0}" destId="{9FE0BF2F-3156-487F-8595-32CAF5895BF8}" srcOrd="3" destOrd="0" presId="urn:microsoft.com/office/officeart/2018/5/layout/IconLeafLabelList"/>
    <dgm:cxn modelId="{41E5692F-111F-40B4-B971-F184E00F3D96}" type="presParOf" srcId="{9B587DBE-0AEE-4CE1-881D-0034293478C7}" destId="{2BB325D6-A7B4-4F99-9E85-05B9D0CE143C}" srcOrd="3" destOrd="0" presId="urn:microsoft.com/office/officeart/2018/5/layout/IconLeafLabelList"/>
    <dgm:cxn modelId="{B6232F5E-815B-4870-8EE2-C852A3DDD67B}" type="presParOf" srcId="{9B587DBE-0AEE-4CE1-881D-0034293478C7}" destId="{D31742B5-D4EA-4007-B24E-3B76DE338C93}" srcOrd="4" destOrd="0" presId="urn:microsoft.com/office/officeart/2018/5/layout/IconLeafLabelList"/>
    <dgm:cxn modelId="{6D8D72AE-5EFE-45C9-86DE-A76B107208D0}" type="presParOf" srcId="{D31742B5-D4EA-4007-B24E-3B76DE338C93}" destId="{B2AC457A-0AA1-4DA0-9DC4-99572B146878}" srcOrd="0" destOrd="0" presId="urn:microsoft.com/office/officeart/2018/5/layout/IconLeafLabelList"/>
    <dgm:cxn modelId="{7DAD86E1-B896-42C2-9C2B-604A7F8952B1}" type="presParOf" srcId="{D31742B5-D4EA-4007-B24E-3B76DE338C93}" destId="{CA6CE872-5CCC-4EEC-8505-D6D126C732CA}" srcOrd="1" destOrd="0" presId="urn:microsoft.com/office/officeart/2018/5/layout/IconLeafLabelList"/>
    <dgm:cxn modelId="{3E69D1A5-2107-4FEE-B8C7-5F95FD1CCFE1}" type="presParOf" srcId="{D31742B5-D4EA-4007-B24E-3B76DE338C93}" destId="{F9C0CFB6-DEC4-4B2F-A38E-A9C9D8118F7F}" srcOrd="2" destOrd="0" presId="urn:microsoft.com/office/officeart/2018/5/layout/IconLeafLabelList"/>
    <dgm:cxn modelId="{0D7AF48F-2BFD-4FCD-A6A1-ABFD1F156F3B}" type="presParOf" srcId="{D31742B5-D4EA-4007-B24E-3B76DE338C93}" destId="{564F116A-5644-4936-B3D9-855345B31B53}"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8A8C91-4026-437E-9896-1A7EE8843D62}">
      <dsp:nvSpPr>
        <dsp:cNvPr id="0" name=""/>
        <dsp:cNvSpPr/>
      </dsp:nvSpPr>
      <dsp:spPr>
        <a:xfrm>
          <a:off x="0" y="531"/>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828B69-33D6-4CFE-BB36-66FF58420A12}">
      <dsp:nvSpPr>
        <dsp:cNvPr id="0" name=""/>
        <dsp:cNvSpPr/>
      </dsp:nvSpPr>
      <dsp:spPr>
        <a:xfrm>
          <a:off x="0" y="53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Malignant skin cancer is the multiplication of infected cells on the skin and into the body tissue. </a:t>
          </a:r>
        </a:p>
      </dsp:txBody>
      <dsp:txXfrm>
        <a:off x="0" y="531"/>
        <a:ext cx="10515600" cy="870055"/>
      </dsp:txXfrm>
    </dsp:sp>
    <dsp:sp modelId="{B190F0A0-8CE2-4BDB-ACD1-6853AAAB5C60}">
      <dsp:nvSpPr>
        <dsp:cNvPr id="0" name=""/>
        <dsp:cNvSpPr/>
      </dsp:nvSpPr>
      <dsp:spPr>
        <a:xfrm>
          <a:off x="0" y="870586"/>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927896-EAC9-4655-9C93-BA39B58A145E}">
      <dsp:nvSpPr>
        <dsp:cNvPr id="0" name=""/>
        <dsp:cNvSpPr/>
      </dsp:nvSpPr>
      <dsp:spPr>
        <a:xfrm>
          <a:off x="0" y="87058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Malignant skin cancer comprises 5 stages, where the 4</a:t>
          </a:r>
          <a:r>
            <a:rPr lang="en-US" sz="2400" kern="1200" baseline="30000"/>
            <a:t>th</a:t>
          </a:r>
          <a:r>
            <a:rPr lang="en-US" sz="2400" kern="1200"/>
            <a:t> and 5</a:t>
          </a:r>
          <a:r>
            <a:rPr lang="en-US" sz="2400" kern="1200" baseline="30000"/>
            <a:t>th</a:t>
          </a:r>
          <a:r>
            <a:rPr lang="en-US" sz="2400" kern="1200"/>
            <a:t> stages are fatal if not detected early. </a:t>
          </a:r>
        </a:p>
      </dsp:txBody>
      <dsp:txXfrm>
        <a:off x="0" y="870586"/>
        <a:ext cx="10515600" cy="870055"/>
      </dsp:txXfrm>
    </dsp:sp>
    <dsp:sp modelId="{CC51F25E-85E2-4AF6-923E-7BF48A5461A8}">
      <dsp:nvSpPr>
        <dsp:cNvPr id="0" name=""/>
        <dsp:cNvSpPr/>
      </dsp:nvSpPr>
      <dsp:spPr>
        <a:xfrm>
          <a:off x="0" y="1740641"/>
          <a:ext cx="10515600"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6F4B48-1016-4046-81D3-D97B869AF4B9}">
      <dsp:nvSpPr>
        <dsp:cNvPr id="0" name=""/>
        <dsp:cNvSpPr/>
      </dsp:nvSpPr>
      <dsp:spPr>
        <a:xfrm>
          <a:off x="0" y="174064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Global</a:t>
          </a:r>
          <a:r>
            <a:rPr lang="en-US" sz="2400" kern="1200" baseline="0" dirty="0"/>
            <a:t> warming and the depletion of the ozone layer has increased exposure to UV rays, causing a steep rise in the number of melanoma cases over the past decade. </a:t>
          </a:r>
          <a:endParaRPr lang="en-US" sz="2400" kern="1200" dirty="0"/>
        </a:p>
      </dsp:txBody>
      <dsp:txXfrm>
        <a:off x="0" y="1740641"/>
        <a:ext cx="10515600" cy="870055"/>
      </dsp:txXfrm>
    </dsp:sp>
    <dsp:sp modelId="{B6F75CEF-BA01-463E-964E-A28C78EF01C0}">
      <dsp:nvSpPr>
        <dsp:cNvPr id="0" name=""/>
        <dsp:cNvSpPr/>
      </dsp:nvSpPr>
      <dsp:spPr>
        <a:xfrm>
          <a:off x="0" y="2610696"/>
          <a:ext cx="10515600"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B1129E-2143-4C92-8853-C17A7A1DAD9E}">
      <dsp:nvSpPr>
        <dsp:cNvPr id="0" name=""/>
        <dsp:cNvSpPr/>
      </dsp:nvSpPr>
      <dsp:spPr>
        <a:xfrm>
          <a:off x="0" y="261069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Treatment Visualization: A proposed framework where we integrate Vision and XR for a particular use case. </a:t>
          </a:r>
        </a:p>
      </dsp:txBody>
      <dsp:txXfrm>
        <a:off x="0" y="2610696"/>
        <a:ext cx="10515600" cy="870055"/>
      </dsp:txXfrm>
    </dsp:sp>
    <dsp:sp modelId="{58BB610A-133E-405E-A74E-20C56834D4A5}">
      <dsp:nvSpPr>
        <dsp:cNvPr id="0" name=""/>
        <dsp:cNvSpPr/>
      </dsp:nvSpPr>
      <dsp:spPr>
        <a:xfrm>
          <a:off x="0" y="3480751"/>
          <a:ext cx="10515600"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55140D-7ABB-4D08-8764-4DC7FF039E62}">
      <dsp:nvSpPr>
        <dsp:cNvPr id="0" name=""/>
        <dsp:cNvSpPr/>
      </dsp:nvSpPr>
      <dsp:spPr>
        <a:xfrm>
          <a:off x="0" y="348075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We would like to use it to estimate the depth of a malignant skin lesion.</a:t>
          </a:r>
        </a:p>
      </dsp:txBody>
      <dsp:txXfrm>
        <a:off x="0" y="3480751"/>
        <a:ext cx="10515600" cy="8700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6D3907-CCE8-49B9-881E-3CCD149F4FF4}">
      <dsp:nvSpPr>
        <dsp:cNvPr id="0" name=""/>
        <dsp:cNvSpPr/>
      </dsp:nvSpPr>
      <dsp:spPr>
        <a:xfrm>
          <a:off x="679050" y="578168"/>
          <a:ext cx="1887187" cy="188718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7ED1F7-0211-4FFB-B5BE-840078A6B8EE}">
      <dsp:nvSpPr>
        <dsp:cNvPr id="0" name=""/>
        <dsp:cNvSpPr/>
      </dsp:nvSpPr>
      <dsp:spPr>
        <a:xfrm>
          <a:off x="1081237" y="980356"/>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BA2EC3-602A-4925-9E01-50625F35830F}">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a:t>To USE THE CONCEPT OF TREATMENT VISUALIZATION FOR OTHER HEALTH CASES</a:t>
          </a:r>
        </a:p>
      </dsp:txBody>
      <dsp:txXfrm>
        <a:off x="75768" y="3053169"/>
        <a:ext cx="3093750" cy="720000"/>
      </dsp:txXfrm>
    </dsp:sp>
    <dsp:sp modelId="{1286377C-5436-4490-9F7B-3DAC9DC9418F}">
      <dsp:nvSpPr>
        <dsp:cNvPr id="0" name=""/>
        <dsp:cNvSpPr/>
      </dsp:nvSpPr>
      <dsp:spPr>
        <a:xfrm>
          <a:off x="4314206" y="578168"/>
          <a:ext cx="1887187" cy="188718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970D01-836F-4F15-9F06-82D8D7AD564D}">
      <dsp:nvSpPr>
        <dsp:cNvPr id="0" name=""/>
        <dsp:cNvSpPr/>
      </dsp:nvSpPr>
      <dsp:spPr>
        <a:xfrm>
          <a:off x="4716393" y="980356"/>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E0BF2F-3156-487F-8595-32CAF5895BF8}">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a:t>Evaluation of the generated holograms by a physician for a real-world application</a:t>
          </a:r>
        </a:p>
      </dsp:txBody>
      <dsp:txXfrm>
        <a:off x="3710925" y="3053169"/>
        <a:ext cx="3093750" cy="720000"/>
      </dsp:txXfrm>
    </dsp:sp>
    <dsp:sp modelId="{B2AC457A-0AA1-4DA0-9DC4-99572B146878}">
      <dsp:nvSpPr>
        <dsp:cNvPr id="0" name=""/>
        <dsp:cNvSpPr/>
      </dsp:nvSpPr>
      <dsp:spPr>
        <a:xfrm>
          <a:off x="7949362" y="578168"/>
          <a:ext cx="1887187" cy="188718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6CE872-5CCC-4EEC-8505-D6D126C732CA}">
      <dsp:nvSpPr>
        <dsp:cNvPr id="0" name=""/>
        <dsp:cNvSpPr/>
      </dsp:nvSpPr>
      <dsp:spPr>
        <a:xfrm>
          <a:off x="8351550" y="980356"/>
          <a:ext cx="1082812" cy="1082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4F116A-5644-4936-B3D9-855345B31B53}">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Evaluation of generated holograms from a technical standpoint: fidelity and validity</a:t>
          </a:r>
        </a:p>
      </dsp:txBody>
      <dsp:txXfrm>
        <a:off x="7346081" y="3053169"/>
        <a:ext cx="3093750" cy="72000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244E9F-2A96-40B3-9495-38B5FBF4620E}" type="datetimeFigureOut">
              <a:rPr lang="en-US" smtClean="0"/>
              <a:t>11/27/2023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56EBE5-3CCF-4E41-AC6F-770ED7484B86}" type="slidenum">
              <a:rPr lang="en-US" smtClean="0"/>
              <a:t>‹#›</a:t>
            </a:fld>
            <a:endParaRPr lang="en-US"/>
          </a:p>
        </p:txBody>
      </p:sp>
    </p:spTree>
    <p:extLst>
      <p:ext uri="{BB962C8B-B14F-4D97-AF65-F5344CB8AC3E}">
        <p14:creationId xmlns:p14="http://schemas.microsoft.com/office/powerpoint/2010/main" val="4028023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for my research is an application of the Treatment Visualization Case Study. We want to use it for the depth estimation of the melanoma skin lesions</a:t>
            </a:r>
          </a:p>
        </p:txBody>
      </p:sp>
      <p:sp>
        <p:nvSpPr>
          <p:cNvPr id="4" name="Slide Number Placeholder 3"/>
          <p:cNvSpPr>
            <a:spLocks noGrp="1"/>
          </p:cNvSpPr>
          <p:nvPr>
            <p:ph type="sldNum" sz="quarter" idx="5"/>
          </p:nvPr>
        </p:nvSpPr>
        <p:spPr/>
        <p:txBody>
          <a:bodyPr/>
          <a:lstStyle/>
          <a:p>
            <a:fld id="{3A56EBE5-3CCF-4E41-AC6F-770ED7484B86}" type="slidenum">
              <a:rPr lang="en-US" smtClean="0"/>
              <a:t>1</a:t>
            </a:fld>
            <a:endParaRPr lang="en-US"/>
          </a:p>
        </p:txBody>
      </p:sp>
    </p:spTree>
    <p:extLst>
      <p:ext uri="{BB962C8B-B14F-4D97-AF65-F5344CB8AC3E}">
        <p14:creationId xmlns:p14="http://schemas.microsoft.com/office/powerpoint/2010/main" val="1643409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I shall start by introducing the problem statement and the case study.</a:t>
            </a:r>
          </a:p>
          <a:p>
            <a:pPr marL="228600" indent="-228600">
              <a:buAutoNum type="arabicPeriod"/>
            </a:pPr>
            <a:r>
              <a:rPr lang="en-US" dirty="0"/>
              <a:t>I shall then discuss four important studies that were essential in the development of this research.</a:t>
            </a:r>
          </a:p>
          <a:p>
            <a:pPr marL="228600" indent="-228600">
              <a:buAutoNum type="arabicPeriod"/>
            </a:pPr>
            <a:r>
              <a:rPr lang="en-US" dirty="0"/>
              <a:t>The methodology is divided into two segments: one with ML +XAI, the other with 3D Hologram generation</a:t>
            </a:r>
          </a:p>
          <a:p>
            <a:pPr marL="228600" indent="-228600">
              <a:buAutoNum type="arabicPeriod"/>
            </a:pPr>
            <a:r>
              <a:rPr lang="en-US" dirty="0"/>
              <a:t>And finally…..</a:t>
            </a:r>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3A56EBE5-3CCF-4E41-AC6F-770ED7484B86}" type="slidenum">
              <a:rPr lang="en-US" smtClean="0"/>
              <a:t>2</a:t>
            </a:fld>
            <a:endParaRPr lang="en-US"/>
          </a:p>
        </p:txBody>
      </p:sp>
    </p:spTree>
    <p:extLst>
      <p:ext uri="{BB962C8B-B14F-4D97-AF65-F5344CB8AC3E}">
        <p14:creationId xmlns:p14="http://schemas.microsoft.com/office/powerpoint/2010/main" val="1037682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After 1</a:t>
            </a:r>
            <a:r>
              <a:rPr lang="en-US" baseline="30000" dirty="0"/>
              <a:t>st</a:t>
            </a:r>
            <a:r>
              <a:rPr lang="en-US" dirty="0"/>
              <a:t> point: The initial or surface stage is called nevus, while if the cancer grows beneath the surface, it is considered melanoma.</a:t>
            </a:r>
          </a:p>
          <a:p>
            <a:pPr marL="228600" indent="-228600">
              <a:buAutoNum type="arabicPeriod"/>
            </a:pPr>
            <a:r>
              <a:rPr lang="en-US" dirty="0"/>
              <a:t>Why have you not included Treatment Visualization? It was a proposed framework in an earlier study we conducted. It has not been included here since it initially used segmentation of the infected tissue instead of depth estimation. It would be confusing. </a:t>
            </a:r>
          </a:p>
          <a:p>
            <a:pPr marL="228600" indent="-228600">
              <a:buAutoNum type="arabicPeriod"/>
            </a:pPr>
            <a:r>
              <a:rPr lang="en-US" dirty="0"/>
              <a:t>Our key contribution: To estimate the depth of a malignant skin lesion beneath the skin, which has not been done before </a:t>
            </a:r>
          </a:p>
        </p:txBody>
      </p:sp>
      <p:sp>
        <p:nvSpPr>
          <p:cNvPr id="4" name="Slide Number Placeholder 3"/>
          <p:cNvSpPr>
            <a:spLocks noGrp="1"/>
          </p:cNvSpPr>
          <p:nvPr>
            <p:ph type="sldNum" sz="quarter" idx="5"/>
          </p:nvPr>
        </p:nvSpPr>
        <p:spPr/>
        <p:txBody>
          <a:bodyPr/>
          <a:lstStyle/>
          <a:p>
            <a:fld id="{3A56EBE5-3CCF-4E41-AC6F-770ED7484B86}" type="slidenum">
              <a:rPr lang="en-US" smtClean="0"/>
              <a:t>3</a:t>
            </a:fld>
            <a:endParaRPr lang="en-US"/>
          </a:p>
        </p:txBody>
      </p:sp>
    </p:spTree>
    <p:extLst>
      <p:ext uri="{BB962C8B-B14F-4D97-AF65-F5344CB8AC3E}">
        <p14:creationId xmlns:p14="http://schemas.microsoft.com/office/powerpoint/2010/main" val="324147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The first paper was the initial study performed by us that had the proposed framework. </a:t>
            </a:r>
          </a:p>
          <a:p>
            <a:pPr marL="228600" indent="-228600">
              <a:buAutoNum type="arabicPeriod"/>
            </a:pPr>
            <a:r>
              <a:rPr lang="en-US" dirty="0"/>
              <a:t>The second paper was the first study to propose the estimation of a lesion’s depth through depth maps and surface reconstruction. However, our method of generating the 3D structure is different and more precise. </a:t>
            </a:r>
          </a:p>
          <a:p>
            <a:pPr marL="228600" indent="-228600">
              <a:buAutoNum type="arabicPeriod"/>
            </a:pPr>
            <a:r>
              <a:rPr lang="en-US" dirty="0"/>
              <a:t>The third paper introduces Grad-CAM which is the XAI algorithm used in the study.</a:t>
            </a:r>
          </a:p>
          <a:p>
            <a:pPr marL="228600" indent="-228600">
              <a:buAutoNum type="arabicPeriod"/>
            </a:pPr>
            <a:r>
              <a:rPr lang="en-US" dirty="0"/>
              <a:t>Since we have a single image per lesion in our dataset (top-view of the lesion), we use the depth from defocus method. </a:t>
            </a:r>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3A56EBE5-3CCF-4E41-AC6F-770ED7484B86}" type="slidenum">
              <a:rPr lang="en-US" smtClean="0"/>
              <a:t>4</a:t>
            </a:fld>
            <a:endParaRPr lang="en-US"/>
          </a:p>
        </p:txBody>
      </p:sp>
    </p:spTree>
    <p:extLst>
      <p:ext uri="{BB962C8B-B14F-4D97-AF65-F5344CB8AC3E}">
        <p14:creationId xmlns:p14="http://schemas.microsoft.com/office/powerpoint/2010/main" val="714880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A higher percentage means a higher stage of malignancy, thereby detecting melanoma. </a:t>
            </a:r>
          </a:p>
          <a:p>
            <a:pPr marL="228600" indent="-228600">
              <a:buAutoNum type="arabicPeriod"/>
            </a:pPr>
            <a:r>
              <a:rPr lang="en-US" dirty="0"/>
              <a:t>Why is it slightly unbalanced? This is because it will develop a slight bias towards the benign class. This makes it a bit harder for the model to classify the malignant case. This reduces the number of FP cases (Cases that are malignant but detected as benign).   </a:t>
            </a:r>
          </a:p>
        </p:txBody>
      </p:sp>
      <p:sp>
        <p:nvSpPr>
          <p:cNvPr id="4" name="Slide Number Placeholder 3"/>
          <p:cNvSpPr>
            <a:spLocks noGrp="1"/>
          </p:cNvSpPr>
          <p:nvPr>
            <p:ph type="sldNum" sz="quarter" idx="5"/>
          </p:nvPr>
        </p:nvSpPr>
        <p:spPr/>
        <p:txBody>
          <a:bodyPr/>
          <a:lstStyle/>
          <a:p>
            <a:fld id="{3A56EBE5-3CCF-4E41-AC6F-770ED7484B86}" type="slidenum">
              <a:rPr lang="en-US" smtClean="0"/>
              <a:t>5</a:t>
            </a:fld>
            <a:endParaRPr lang="en-US"/>
          </a:p>
        </p:txBody>
      </p:sp>
    </p:spTree>
    <p:extLst>
      <p:ext uri="{BB962C8B-B14F-4D97-AF65-F5344CB8AC3E}">
        <p14:creationId xmlns:p14="http://schemas.microsoft.com/office/powerpoint/2010/main" val="2243704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Perform the split into training, validation, and test data.  Validation is used to tune the hyperparameters of the model (alpha of the gradient descent, regularization term), and the testing data gives us the evaluation metrics (accuracy, precision, recall, etc.). We use train test split in </a:t>
            </a:r>
            <a:r>
              <a:rPr lang="en-US" dirty="0" err="1"/>
              <a:t>sklearn</a:t>
            </a:r>
            <a:r>
              <a:rPr lang="en-US" dirty="0"/>
              <a:t> for the same. </a:t>
            </a:r>
          </a:p>
          <a:p>
            <a:pPr marL="228600" indent="-228600">
              <a:buAutoNum type="arabicPeriod"/>
            </a:pPr>
            <a:r>
              <a:rPr lang="en-US" dirty="0"/>
              <a:t>Perform Annotation for clarity</a:t>
            </a:r>
          </a:p>
          <a:p>
            <a:pPr marL="228600" indent="-228600">
              <a:buAutoNum type="arabicPeriod"/>
            </a:pPr>
            <a:r>
              <a:rPr lang="en-US" dirty="0"/>
              <a:t>It is easier to train the model on encoded training labels. We use the </a:t>
            </a:r>
            <a:r>
              <a:rPr lang="en-US" dirty="0" err="1"/>
              <a:t>LabelEncoder</a:t>
            </a:r>
            <a:r>
              <a:rPr lang="en-US" dirty="0"/>
              <a:t> in </a:t>
            </a:r>
            <a:r>
              <a:rPr lang="en-US" dirty="0" err="1"/>
              <a:t>sklearn</a:t>
            </a:r>
            <a:r>
              <a:rPr lang="en-US" dirty="0"/>
              <a:t> for the same</a:t>
            </a:r>
          </a:p>
        </p:txBody>
      </p:sp>
      <p:sp>
        <p:nvSpPr>
          <p:cNvPr id="4" name="Slide Number Placeholder 3"/>
          <p:cNvSpPr>
            <a:spLocks noGrp="1"/>
          </p:cNvSpPr>
          <p:nvPr>
            <p:ph type="sldNum" sz="quarter" idx="5"/>
          </p:nvPr>
        </p:nvSpPr>
        <p:spPr/>
        <p:txBody>
          <a:bodyPr/>
          <a:lstStyle/>
          <a:p>
            <a:fld id="{3A56EBE5-3CCF-4E41-AC6F-770ED7484B86}" type="slidenum">
              <a:rPr lang="en-US" smtClean="0"/>
              <a:t>6</a:t>
            </a:fld>
            <a:endParaRPr lang="en-US"/>
          </a:p>
        </p:txBody>
      </p:sp>
    </p:spTree>
    <p:extLst>
      <p:ext uri="{BB962C8B-B14F-4D97-AF65-F5344CB8AC3E}">
        <p14:creationId xmlns:p14="http://schemas.microsoft.com/office/powerpoint/2010/main" val="19787867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The pre-trained VGG19 is present in the </a:t>
            </a:r>
            <a:r>
              <a:rPr lang="en-US" dirty="0" err="1"/>
              <a:t>tensorflow.keras.applications</a:t>
            </a:r>
            <a:r>
              <a:rPr lang="en-US" dirty="0"/>
              <a:t> library. It is a state-of-the-art, classic architecture that is commonly used for image classification</a:t>
            </a:r>
          </a:p>
          <a:p>
            <a:pPr marL="228600" indent="-228600">
              <a:buAutoNum type="arabicPeriod"/>
            </a:pPr>
            <a:r>
              <a:rPr lang="en-US" dirty="0"/>
              <a:t>The functional model is created layer-by-layer using </a:t>
            </a:r>
            <a:r>
              <a:rPr lang="en-US" dirty="0" err="1"/>
              <a:t>tensorflow.keras.layers</a:t>
            </a:r>
            <a:r>
              <a:rPr lang="en-US" dirty="0"/>
              <a:t> like Flatten and Dense</a:t>
            </a:r>
          </a:p>
          <a:p>
            <a:pPr marL="228600" indent="-228600">
              <a:buAutoNum type="arabicPeriod"/>
            </a:pPr>
            <a:r>
              <a:rPr lang="en-US" dirty="0"/>
              <a:t>Why pre-trained VGG19: We use it due to its architecture design and since it is well trained over the ImageNet dataset. Since our dataset is not the largest, we benefit from not training such a huge model from scratch. It reduces complexity and the training time significantly. It also helps reduce overfitting since the model is generalized to a standard dataset.</a:t>
            </a:r>
          </a:p>
          <a:p>
            <a:pPr marL="228600" indent="-228600">
              <a:buAutoNum type="arabicPeriod"/>
            </a:pPr>
            <a:r>
              <a:rPr lang="en-US" dirty="0"/>
              <a:t> Why 6 Dense layers? To perform hierarchical feature reduction. After we use Flatten, we have too many features from the base model. We need to decrease them step-by-step until we have two features, 0 or 1, the output of the model. </a:t>
            </a:r>
          </a:p>
          <a:p>
            <a:pPr marL="0" indent="0">
              <a:buNone/>
            </a:pPr>
            <a:endParaRPr lang="en-US" dirty="0"/>
          </a:p>
        </p:txBody>
      </p:sp>
      <p:sp>
        <p:nvSpPr>
          <p:cNvPr id="4" name="Slide Number Placeholder 3"/>
          <p:cNvSpPr>
            <a:spLocks noGrp="1"/>
          </p:cNvSpPr>
          <p:nvPr>
            <p:ph type="sldNum" sz="quarter" idx="5"/>
          </p:nvPr>
        </p:nvSpPr>
        <p:spPr/>
        <p:txBody>
          <a:bodyPr/>
          <a:lstStyle/>
          <a:p>
            <a:fld id="{3A56EBE5-3CCF-4E41-AC6F-770ED7484B86}" type="slidenum">
              <a:rPr lang="en-US" smtClean="0"/>
              <a:t>7</a:t>
            </a:fld>
            <a:endParaRPr lang="en-US"/>
          </a:p>
        </p:txBody>
      </p:sp>
    </p:spTree>
    <p:extLst>
      <p:ext uri="{BB962C8B-B14F-4D97-AF65-F5344CB8AC3E}">
        <p14:creationId xmlns:p14="http://schemas.microsoft.com/office/powerpoint/2010/main" val="2843543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We perform mathematical operations on tensors, according to its algorithm. </a:t>
            </a:r>
          </a:p>
          <a:p>
            <a:pPr marL="228600" indent="-228600">
              <a:buAutoNum type="arabicPeriod"/>
            </a:pPr>
            <a:r>
              <a:rPr lang="en-US" dirty="0"/>
              <a:t>An extrinsically implemented XAI technique does not make changes within the model, and it is used as an external tool. Example: The </a:t>
            </a:r>
            <a:r>
              <a:rPr lang="en-US" dirty="0" err="1"/>
              <a:t>Labelbox</a:t>
            </a:r>
            <a:r>
              <a:rPr lang="en-US" dirty="0"/>
              <a:t> framework allows us to visualize the inner alterations during model optimization. They are easy to manipulate</a:t>
            </a:r>
          </a:p>
          <a:p>
            <a:pPr marL="228600" indent="-228600">
              <a:buAutoNum type="arabicPeriod"/>
            </a:pPr>
            <a:r>
              <a:rPr lang="en-US" dirty="0"/>
              <a:t>Intrinsic: As you can see, there are changes in the model. Other Example: CAM, attention layers. They could reduce the performance of the model and increase complexity</a:t>
            </a:r>
          </a:p>
        </p:txBody>
      </p:sp>
      <p:sp>
        <p:nvSpPr>
          <p:cNvPr id="4" name="Slide Number Placeholder 3"/>
          <p:cNvSpPr>
            <a:spLocks noGrp="1"/>
          </p:cNvSpPr>
          <p:nvPr>
            <p:ph type="sldNum" sz="quarter" idx="5"/>
          </p:nvPr>
        </p:nvSpPr>
        <p:spPr/>
        <p:txBody>
          <a:bodyPr/>
          <a:lstStyle/>
          <a:p>
            <a:fld id="{3A56EBE5-3CCF-4E41-AC6F-770ED7484B86}" type="slidenum">
              <a:rPr lang="en-US" smtClean="0"/>
              <a:t>8</a:t>
            </a:fld>
            <a:endParaRPr lang="en-US"/>
          </a:p>
        </p:txBody>
      </p:sp>
    </p:spTree>
    <p:extLst>
      <p:ext uri="{BB962C8B-B14F-4D97-AF65-F5344CB8AC3E}">
        <p14:creationId xmlns:p14="http://schemas.microsoft.com/office/powerpoint/2010/main" val="38097223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An MCC Score of 0.7123 indicates a strong positive correlation between the model predictions and class labels.</a:t>
            </a:r>
          </a:p>
          <a:p>
            <a:pPr marL="228600" indent="-228600">
              <a:buAutoNum type="arabicPeriod"/>
            </a:pPr>
            <a:r>
              <a:rPr lang="en-US" dirty="0"/>
              <a:t>Precision: The ratio of positive class with total positive predictions (TP/ TP + FP)</a:t>
            </a:r>
          </a:p>
          <a:p>
            <a:pPr marL="228600" indent="-228600">
              <a:buAutoNum type="arabicPeriod"/>
            </a:pPr>
            <a:r>
              <a:rPr lang="en-US" dirty="0"/>
              <a:t>Recall: The ratio between positive class with total positive samples (TP/ TP + FN)</a:t>
            </a:r>
          </a:p>
          <a:p>
            <a:pPr marL="228600" indent="-228600">
              <a:buAutoNum type="arabicPeriod"/>
            </a:pPr>
            <a:r>
              <a:rPr lang="en-US" dirty="0"/>
              <a:t>AUC-ROC represents the area under the FP and TP curve, which are important parameters when the dataset is slightly imbalanced.</a:t>
            </a:r>
          </a:p>
          <a:p>
            <a:pPr marL="228600" indent="-228600">
              <a:buAutoNum type="arabicPeriod"/>
            </a:pPr>
            <a:r>
              <a:rPr lang="en-US" dirty="0"/>
              <a:t>There is a slight trade-off with the evaluation metrics when we use an intrinsic XAI technique. </a:t>
            </a:r>
          </a:p>
          <a:p>
            <a:endParaRPr lang="en-US" dirty="0"/>
          </a:p>
        </p:txBody>
      </p:sp>
      <p:sp>
        <p:nvSpPr>
          <p:cNvPr id="4" name="Slide Number Placeholder 3"/>
          <p:cNvSpPr>
            <a:spLocks noGrp="1"/>
          </p:cNvSpPr>
          <p:nvPr>
            <p:ph type="sldNum" sz="quarter" idx="5"/>
          </p:nvPr>
        </p:nvSpPr>
        <p:spPr/>
        <p:txBody>
          <a:bodyPr/>
          <a:lstStyle/>
          <a:p>
            <a:fld id="{3A56EBE5-3CCF-4E41-AC6F-770ED7484B86}" type="slidenum">
              <a:rPr lang="en-US" smtClean="0"/>
              <a:t>9</a:t>
            </a:fld>
            <a:endParaRPr lang="en-US"/>
          </a:p>
        </p:txBody>
      </p:sp>
    </p:spTree>
    <p:extLst>
      <p:ext uri="{BB962C8B-B14F-4D97-AF65-F5344CB8AC3E}">
        <p14:creationId xmlns:p14="http://schemas.microsoft.com/office/powerpoint/2010/main" val="29356343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depth map depends on the lesion’s color, texture, and width. A darker color gives a darker depth in that area</a:t>
            </a:r>
          </a:p>
        </p:txBody>
      </p:sp>
      <p:sp>
        <p:nvSpPr>
          <p:cNvPr id="4" name="Slide Number Placeholder 3"/>
          <p:cNvSpPr>
            <a:spLocks noGrp="1"/>
          </p:cNvSpPr>
          <p:nvPr>
            <p:ph type="sldNum" sz="quarter" idx="5"/>
          </p:nvPr>
        </p:nvSpPr>
        <p:spPr/>
        <p:txBody>
          <a:bodyPr/>
          <a:lstStyle/>
          <a:p>
            <a:fld id="{3A56EBE5-3CCF-4E41-AC6F-770ED7484B86}" type="slidenum">
              <a:rPr lang="en-US" smtClean="0"/>
              <a:t>10</a:t>
            </a:fld>
            <a:endParaRPr lang="en-US"/>
          </a:p>
        </p:txBody>
      </p:sp>
    </p:spTree>
    <p:extLst>
      <p:ext uri="{BB962C8B-B14F-4D97-AF65-F5344CB8AC3E}">
        <p14:creationId xmlns:p14="http://schemas.microsoft.com/office/powerpoint/2010/main" val="20156063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We have the top view for each lesion in the dataset</a:t>
            </a:r>
          </a:p>
          <a:p>
            <a:pPr marL="228600" indent="-228600">
              <a:buAutoNum type="arabicPeriod"/>
            </a:pPr>
            <a:r>
              <a:rPr lang="en-US" dirty="0"/>
              <a:t>Canny Edge Detection using the cv2.Canny. Gaussian Blur using cv2.GaussianBlur. Compute the defocus occurrence between the two using cv2.magnitude</a:t>
            </a:r>
          </a:p>
          <a:p>
            <a:pPr marL="228600" indent="-228600">
              <a:buAutoNum type="arabicPeriod"/>
            </a:pPr>
            <a:r>
              <a:rPr lang="en-US" dirty="0"/>
              <a:t>Alternate method: The “shape from shading” method analyzes variations in color across the image.</a:t>
            </a:r>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3A56EBE5-3CCF-4E41-AC6F-770ED7484B86}" type="slidenum">
              <a:rPr lang="en-US" smtClean="0"/>
              <a:t>11</a:t>
            </a:fld>
            <a:endParaRPr lang="en-US"/>
          </a:p>
        </p:txBody>
      </p:sp>
    </p:spTree>
    <p:extLst>
      <p:ext uri="{BB962C8B-B14F-4D97-AF65-F5344CB8AC3E}">
        <p14:creationId xmlns:p14="http://schemas.microsoft.com/office/powerpoint/2010/main" val="13041151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Explain the selected orientations</a:t>
            </a:r>
          </a:p>
          <a:p>
            <a:endParaRPr lang="en-US" dirty="0"/>
          </a:p>
        </p:txBody>
      </p:sp>
      <p:sp>
        <p:nvSpPr>
          <p:cNvPr id="4" name="Slide Number Placeholder 3"/>
          <p:cNvSpPr>
            <a:spLocks noGrp="1"/>
          </p:cNvSpPr>
          <p:nvPr>
            <p:ph type="sldNum" sz="quarter" idx="5"/>
          </p:nvPr>
        </p:nvSpPr>
        <p:spPr/>
        <p:txBody>
          <a:bodyPr/>
          <a:lstStyle/>
          <a:p>
            <a:fld id="{3A56EBE5-3CCF-4E41-AC6F-770ED7484B86}" type="slidenum">
              <a:rPr lang="en-US" smtClean="0"/>
              <a:t>12</a:t>
            </a:fld>
            <a:endParaRPr lang="en-US"/>
          </a:p>
        </p:txBody>
      </p:sp>
    </p:spTree>
    <p:extLst>
      <p:ext uri="{BB962C8B-B14F-4D97-AF65-F5344CB8AC3E}">
        <p14:creationId xmlns:p14="http://schemas.microsoft.com/office/powerpoint/2010/main" val="5846162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explain how the red spot analysis leads to the conical structure: We take each value as the base of the cone. We get multiple cones representing the conical structure of the lesion. </a:t>
            </a:r>
          </a:p>
          <a:p>
            <a:r>
              <a:rPr lang="en-US" dirty="0"/>
              <a:t>In between Cases (a) and (c): It would be wrong to map the degree of malignancy directly with the red-spot analysis like that. The probability of malignancy is an output of the CNN model, which predicts using the training data, and it does not have a direct relation to the red spots that we get from the depth map. All we are using the red spots for is to give the lesion a conical structure to estimate its depth within the skin. </a:t>
            </a:r>
          </a:p>
          <a:p>
            <a:endParaRPr lang="en-US" dirty="0"/>
          </a:p>
        </p:txBody>
      </p:sp>
      <p:sp>
        <p:nvSpPr>
          <p:cNvPr id="4" name="Slide Number Placeholder 3"/>
          <p:cNvSpPr>
            <a:spLocks noGrp="1"/>
          </p:cNvSpPr>
          <p:nvPr>
            <p:ph type="sldNum" sz="quarter" idx="5"/>
          </p:nvPr>
        </p:nvSpPr>
        <p:spPr/>
        <p:txBody>
          <a:bodyPr/>
          <a:lstStyle/>
          <a:p>
            <a:fld id="{3A56EBE5-3CCF-4E41-AC6F-770ED7484B86}" type="slidenum">
              <a:rPr lang="en-US" smtClean="0"/>
              <a:t>13</a:t>
            </a:fld>
            <a:endParaRPr lang="en-US"/>
          </a:p>
        </p:txBody>
      </p:sp>
    </p:spTree>
    <p:extLst>
      <p:ext uri="{BB962C8B-B14F-4D97-AF65-F5344CB8AC3E}">
        <p14:creationId xmlns:p14="http://schemas.microsoft.com/office/powerpoint/2010/main" val="30618583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Why are we considering the degree of malignancy, </a:t>
            </a:r>
            <a:r>
              <a:rPr lang="en-US" dirty="0" err="1"/>
              <a:t>was’nt</a:t>
            </a:r>
            <a:r>
              <a:rPr lang="en-US" dirty="0"/>
              <a:t> this a classification problem? When we use a CNN, our final output is a probability. The probability of Case (a) being a malignant lesion is 9.38%, therefore making it of benign nature.  </a:t>
            </a:r>
          </a:p>
        </p:txBody>
      </p:sp>
      <p:sp>
        <p:nvSpPr>
          <p:cNvPr id="4" name="Slide Number Placeholder 3"/>
          <p:cNvSpPr>
            <a:spLocks noGrp="1"/>
          </p:cNvSpPr>
          <p:nvPr>
            <p:ph type="sldNum" sz="quarter" idx="5"/>
          </p:nvPr>
        </p:nvSpPr>
        <p:spPr/>
        <p:txBody>
          <a:bodyPr/>
          <a:lstStyle/>
          <a:p>
            <a:fld id="{3A56EBE5-3CCF-4E41-AC6F-770ED7484B86}" type="slidenum">
              <a:rPr lang="en-US" smtClean="0"/>
              <a:t>14</a:t>
            </a:fld>
            <a:endParaRPr lang="en-US"/>
          </a:p>
        </p:txBody>
      </p:sp>
    </p:spTree>
    <p:extLst>
      <p:ext uri="{BB962C8B-B14F-4D97-AF65-F5344CB8AC3E}">
        <p14:creationId xmlns:p14="http://schemas.microsoft.com/office/powerpoint/2010/main" val="20803183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Almost all Evaluation values in between 85 and 90 percent, with the accuracy being 86 percent.</a:t>
            </a:r>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3A56EBE5-3CCF-4E41-AC6F-770ED7484B86}" type="slidenum">
              <a:rPr lang="en-US" smtClean="0"/>
              <a:t>15</a:t>
            </a:fld>
            <a:endParaRPr lang="en-US"/>
          </a:p>
        </p:txBody>
      </p:sp>
    </p:spTree>
    <p:extLst>
      <p:ext uri="{BB962C8B-B14F-4D97-AF65-F5344CB8AC3E}">
        <p14:creationId xmlns:p14="http://schemas.microsoft.com/office/powerpoint/2010/main" val="12170662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the evaluation portion</a:t>
            </a:r>
          </a:p>
        </p:txBody>
      </p:sp>
      <p:sp>
        <p:nvSpPr>
          <p:cNvPr id="4" name="Slide Number Placeholder 3"/>
          <p:cNvSpPr>
            <a:spLocks noGrp="1"/>
          </p:cNvSpPr>
          <p:nvPr>
            <p:ph type="sldNum" sz="quarter" idx="5"/>
          </p:nvPr>
        </p:nvSpPr>
        <p:spPr/>
        <p:txBody>
          <a:bodyPr/>
          <a:lstStyle/>
          <a:p>
            <a:fld id="{3A56EBE5-3CCF-4E41-AC6F-770ED7484B86}" type="slidenum">
              <a:rPr lang="en-US" smtClean="0"/>
              <a:t>16</a:t>
            </a:fld>
            <a:endParaRPr lang="en-US"/>
          </a:p>
        </p:txBody>
      </p:sp>
    </p:spTree>
    <p:extLst>
      <p:ext uri="{BB962C8B-B14F-4D97-AF65-F5344CB8AC3E}">
        <p14:creationId xmlns:p14="http://schemas.microsoft.com/office/powerpoint/2010/main" val="20320916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A56EBE5-3CCF-4E41-AC6F-770ED7484B86}" type="slidenum">
              <a:rPr lang="en-US" smtClean="0"/>
              <a:t>17</a:t>
            </a:fld>
            <a:endParaRPr lang="en-US"/>
          </a:p>
        </p:txBody>
      </p:sp>
    </p:spTree>
    <p:extLst>
      <p:ext uri="{BB962C8B-B14F-4D97-AF65-F5344CB8AC3E}">
        <p14:creationId xmlns:p14="http://schemas.microsoft.com/office/powerpoint/2010/main" val="789531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F3B12-7544-B518-0EB6-1AE4413A36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0866665-C0CF-BFCB-2780-FB7F96326A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2AEAFB-D514-F4E2-C8FF-D54981342EB7}"/>
              </a:ext>
            </a:extLst>
          </p:cNvPr>
          <p:cNvSpPr>
            <a:spLocks noGrp="1"/>
          </p:cNvSpPr>
          <p:nvPr>
            <p:ph type="dt" sz="half" idx="10"/>
          </p:nvPr>
        </p:nvSpPr>
        <p:spPr/>
        <p:txBody>
          <a:bodyPr/>
          <a:lstStyle/>
          <a:p>
            <a:fld id="{64A45D18-2B89-43D1-A809-B54288AF222E}" type="datetimeFigureOut">
              <a:rPr lang="en-US" smtClean="0"/>
              <a:t>11/27/2023</a:t>
            </a:fld>
            <a:endParaRPr lang="en-US"/>
          </a:p>
        </p:txBody>
      </p:sp>
      <p:sp>
        <p:nvSpPr>
          <p:cNvPr id="5" name="Footer Placeholder 4">
            <a:extLst>
              <a:ext uri="{FF2B5EF4-FFF2-40B4-BE49-F238E27FC236}">
                <a16:creationId xmlns:a16="http://schemas.microsoft.com/office/drawing/2014/main" id="{B5648102-C656-9E17-1EFB-2F1F7D28F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A87298-EAB4-43EE-010F-6BCF606C4EED}"/>
              </a:ext>
            </a:extLst>
          </p:cNvPr>
          <p:cNvSpPr>
            <a:spLocks noGrp="1"/>
          </p:cNvSpPr>
          <p:nvPr>
            <p:ph type="sldNum" sz="quarter" idx="12"/>
          </p:nvPr>
        </p:nvSpPr>
        <p:spPr/>
        <p:txBody>
          <a:bodyPr/>
          <a:lstStyle/>
          <a:p>
            <a:fld id="{B484184C-9347-4C22-B2D6-9DFFB62BB602}" type="slidenum">
              <a:rPr lang="en-US" smtClean="0"/>
              <a:t>‹#›</a:t>
            </a:fld>
            <a:endParaRPr lang="en-US"/>
          </a:p>
        </p:txBody>
      </p:sp>
    </p:spTree>
    <p:extLst>
      <p:ext uri="{BB962C8B-B14F-4D97-AF65-F5344CB8AC3E}">
        <p14:creationId xmlns:p14="http://schemas.microsoft.com/office/powerpoint/2010/main" val="3716901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5388E-518C-162E-E634-DDD525B602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EA137B-2718-74AC-A150-89F6E4354F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382D9-9B73-5DE0-F4A9-B976777C3A9A}"/>
              </a:ext>
            </a:extLst>
          </p:cNvPr>
          <p:cNvSpPr>
            <a:spLocks noGrp="1"/>
          </p:cNvSpPr>
          <p:nvPr>
            <p:ph type="dt" sz="half" idx="10"/>
          </p:nvPr>
        </p:nvSpPr>
        <p:spPr/>
        <p:txBody>
          <a:bodyPr/>
          <a:lstStyle/>
          <a:p>
            <a:fld id="{64A45D18-2B89-43D1-A809-B54288AF222E}" type="datetimeFigureOut">
              <a:rPr lang="en-US" smtClean="0"/>
              <a:t>11/27/2023</a:t>
            </a:fld>
            <a:endParaRPr lang="en-US"/>
          </a:p>
        </p:txBody>
      </p:sp>
      <p:sp>
        <p:nvSpPr>
          <p:cNvPr id="5" name="Footer Placeholder 4">
            <a:extLst>
              <a:ext uri="{FF2B5EF4-FFF2-40B4-BE49-F238E27FC236}">
                <a16:creationId xmlns:a16="http://schemas.microsoft.com/office/drawing/2014/main" id="{5EA701F8-DE59-F102-E078-B589BF4C1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7CA8AE-DEFC-FE52-829D-6B4F239189DC}"/>
              </a:ext>
            </a:extLst>
          </p:cNvPr>
          <p:cNvSpPr>
            <a:spLocks noGrp="1"/>
          </p:cNvSpPr>
          <p:nvPr>
            <p:ph type="sldNum" sz="quarter" idx="12"/>
          </p:nvPr>
        </p:nvSpPr>
        <p:spPr/>
        <p:txBody>
          <a:bodyPr/>
          <a:lstStyle/>
          <a:p>
            <a:fld id="{B484184C-9347-4C22-B2D6-9DFFB62BB602}" type="slidenum">
              <a:rPr lang="en-US" smtClean="0"/>
              <a:t>‹#›</a:t>
            </a:fld>
            <a:endParaRPr lang="en-US"/>
          </a:p>
        </p:txBody>
      </p:sp>
    </p:spTree>
    <p:extLst>
      <p:ext uri="{BB962C8B-B14F-4D97-AF65-F5344CB8AC3E}">
        <p14:creationId xmlns:p14="http://schemas.microsoft.com/office/powerpoint/2010/main" val="208135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0CB33-2065-D285-7BFF-C535008C36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2D8B1F-DAF9-D6A5-47F3-3A97ABBDF2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821326-F290-58C3-C606-48B07F0ED963}"/>
              </a:ext>
            </a:extLst>
          </p:cNvPr>
          <p:cNvSpPr>
            <a:spLocks noGrp="1"/>
          </p:cNvSpPr>
          <p:nvPr>
            <p:ph type="dt" sz="half" idx="10"/>
          </p:nvPr>
        </p:nvSpPr>
        <p:spPr/>
        <p:txBody>
          <a:bodyPr/>
          <a:lstStyle/>
          <a:p>
            <a:fld id="{64A45D18-2B89-43D1-A809-B54288AF222E}" type="datetimeFigureOut">
              <a:rPr lang="en-US" smtClean="0"/>
              <a:t>11/27/2023</a:t>
            </a:fld>
            <a:endParaRPr lang="en-US"/>
          </a:p>
        </p:txBody>
      </p:sp>
      <p:sp>
        <p:nvSpPr>
          <p:cNvPr id="5" name="Footer Placeholder 4">
            <a:extLst>
              <a:ext uri="{FF2B5EF4-FFF2-40B4-BE49-F238E27FC236}">
                <a16:creationId xmlns:a16="http://schemas.microsoft.com/office/drawing/2014/main" id="{00C1E684-CAA0-B84F-6F09-8778EF928A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DBB89-5EE6-F867-A0D5-0289E71558E0}"/>
              </a:ext>
            </a:extLst>
          </p:cNvPr>
          <p:cNvSpPr>
            <a:spLocks noGrp="1"/>
          </p:cNvSpPr>
          <p:nvPr>
            <p:ph type="sldNum" sz="quarter" idx="12"/>
          </p:nvPr>
        </p:nvSpPr>
        <p:spPr/>
        <p:txBody>
          <a:bodyPr/>
          <a:lstStyle/>
          <a:p>
            <a:fld id="{B484184C-9347-4C22-B2D6-9DFFB62BB602}" type="slidenum">
              <a:rPr lang="en-US" smtClean="0"/>
              <a:t>‹#›</a:t>
            </a:fld>
            <a:endParaRPr lang="en-US"/>
          </a:p>
        </p:txBody>
      </p:sp>
    </p:spTree>
    <p:extLst>
      <p:ext uri="{BB962C8B-B14F-4D97-AF65-F5344CB8AC3E}">
        <p14:creationId xmlns:p14="http://schemas.microsoft.com/office/powerpoint/2010/main" val="2028867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B21F1-BC90-FE68-4E0C-1BCC8DF993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1E8634-7E60-4BA0-FF0A-18A541AA5F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5723E7-C1E6-33B7-011B-CF824CF68B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1BCF90-17ED-8D1B-5B04-B1988BC9249C}"/>
              </a:ext>
            </a:extLst>
          </p:cNvPr>
          <p:cNvSpPr>
            <a:spLocks noGrp="1"/>
          </p:cNvSpPr>
          <p:nvPr>
            <p:ph type="dt" sz="half" idx="10"/>
          </p:nvPr>
        </p:nvSpPr>
        <p:spPr/>
        <p:txBody>
          <a:bodyPr/>
          <a:lstStyle/>
          <a:p>
            <a:fld id="{64A45D18-2B89-43D1-A809-B54288AF222E}" type="datetimeFigureOut">
              <a:rPr lang="en-US" smtClean="0"/>
              <a:t>11/27/2023</a:t>
            </a:fld>
            <a:endParaRPr lang="en-US"/>
          </a:p>
        </p:txBody>
      </p:sp>
      <p:sp>
        <p:nvSpPr>
          <p:cNvPr id="6" name="Footer Placeholder 5">
            <a:extLst>
              <a:ext uri="{FF2B5EF4-FFF2-40B4-BE49-F238E27FC236}">
                <a16:creationId xmlns:a16="http://schemas.microsoft.com/office/drawing/2014/main" id="{10D7A05B-6BC5-0851-A105-A42265A718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D10E8B-BC5C-ACA6-76AE-427089E09635}"/>
              </a:ext>
            </a:extLst>
          </p:cNvPr>
          <p:cNvSpPr>
            <a:spLocks noGrp="1"/>
          </p:cNvSpPr>
          <p:nvPr>
            <p:ph type="sldNum" sz="quarter" idx="12"/>
          </p:nvPr>
        </p:nvSpPr>
        <p:spPr/>
        <p:txBody>
          <a:bodyPr/>
          <a:lstStyle/>
          <a:p>
            <a:fld id="{B484184C-9347-4C22-B2D6-9DFFB62BB602}" type="slidenum">
              <a:rPr lang="en-US" smtClean="0"/>
              <a:t>‹#›</a:t>
            </a:fld>
            <a:endParaRPr lang="en-US"/>
          </a:p>
        </p:txBody>
      </p:sp>
    </p:spTree>
    <p:extLst>
      <p:ext uri="{BB962C8B-B14F-4D97-AF65-F5344CB8AC3E}">
        <p14:creationId xmlns:p14="http://schemas.microsoft.com/office/powerpoint/2010/main" val="1953179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28C6F-F432-BC41-5BD1-939A36667C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D62C36-2F26-A847-3E0D-16D95D08B4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FF8EFE-3422-B7C6-4DAC-469CB1952A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4E3C6D-F544-5957-F57A-E7F46C5270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FB9A57-4FA5-00F0-6605-E637B1B8FB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E5A634-CCB0-FC1A-56F8-2A770BD7945F}"/>
              </a:ext>
            </a:extLst>
          </p:cNvPr>
          <p:cNvSpPr>
            <a:spLocks noGrp="1"/>
          </p:cNvSpPr>
          <p:nvPr>
            <p:ph type="dt" sz="half" idx="10"/>
          </p:nvPr>
        </p:nvSpPr>
        <p:spPr/>
        <p:txBody>
          <a:bodyPr/>
          <a:lstStyle/>
          <a:p>
            <a:fld id="{64A45D18-2B89-43D1-A809-B54288AF222E}" type="datetimeFigureOut">
              <a:rPr lang="en-US" smtClean="0"/>
              <a:t>11/27/2023</a:t>
            </a:fld>
            <a:endParaRPr lang="en-US"/>
          </a:p>
        </p:txBody>
      </p:sp>
      <p:sp>
        <p:nvSpPr>
          <p:cNvPr id="8" name="Footer Placeholder 7">
            <a:extLst>
              <a:ext uri="{FF2B5EF4-FFF2-40B4-BE49-F238E27FC236}">
                <a16:creationId xmlns:a16="http://schemas.microsoft.com/office/drawing/2014/main" id="{24C174C4-FAE3-464A-8BA8-0D9A1E66B1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05AA613-244A-37DD-3415-0B0E12F067BF}"/>
              </a:ext>
            </a:extLst>
          </p:cNvPr>
          <p:cNvSpPr>
            <a:spLocks noGrp="1"/>
          </p:cNvSpPr>
          <p:nvPr>
            <p:ph type="sldNum" sz="quarter" idx="12"/>
          </p:nvPr>
        </p:nvSpPr>
        <p:spPr/>
        <p:txBody>
          <a:bodyPr/>
          <a:lstStyle/>
          <a:p>
            <a:fld id="{B484184C-9347-4C22-B2D6-9DFFB62BB602}" type="slidenum">
              <a:rPr lang="en-US" smtClean="0"/>
              <a:t>‹#›</a:t>
            </a:fld>
            <a:endParaRPr lang="en-US"/>
          </a:p>
        </p:txBody>
      </p:sp>
    </p:spTree>
    <p:extLst>
      <p:ext uri="{BB962C8B-B14F-4D97-AF65-F5344CB8AC3E}">
        <p14:creationId xmlns:p14="http://schemas.microsoft.com/office/powerpoint/2010/main" val="2982654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EC889-BC71-CA0A-77FF-DB34C93680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418D054-3F38-278B-9147-3AE54C434862}"/>
              </a:ext>
            </a:extLst>
          </p:cNvPr>
          <p:cNvSpPr>
            <a:spLocks noGrp="1"/>
          </p:cNvSpPr>
          <p:nvPr>
            <p:ph type="dt" sz="half" idx="10"/>
          </p:nvPr>
        </p:nvSpPr>
        <p:spPr/>
        <p:txBody>
          <a:bodyPr/>
          <a:lstStyle/>
          <a:p>
            <a:fld id="{64A45D18-2B89-43D1-A809-B54288AF222E}" type="datetimeFigureOut">
              <a:rPr lang="en-US" smtClean="0"/>
              <a:t>11/27/2023</a:t>
            </a:fld>
            <a:endParaRPr lang="en-US"/>
          </a:p>
        </p:txBody>
      </p:sp>
      <p:sp>
        <p:nvSpPr>
          <p:cNvPr id="4" name="Footer Placeholder 3">
            <a:extLst>
              <a:ext uri="{FF2B5EF4-FFF2-40B4-BE49-F238E27FC236}">
                <a16:creationId xmlns:a16="http://schemas.microsoft.com/office/drawing/2014/main" id="{A1FEE3B4-B7F5-A2F8-3536-BA828B8580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A75DB21-3C9D-FA6C-82E8-16ACCB44CD6F}"/>
              </a:ext>
            </a:extLst>
          </p:cNvPr>
          <p:cNvSpPr>
            <a:spLocks noGrp="1"/>
          </p:cNvSpPr>
          <p:nvPr>
            <p:ph type="sldNum" sz="quarter" idx="12"/>
          </p:nvPr>
        </p:nvSpPr>
        <p:spPr/>
        <p:txBody>
          <a:bodyPr/>
          <a:lstStyle/>
          <a:p>
            <a:fld id="{B484184C-9347-4C22-B2D6-9DFFB62BB602}" type="slidenum">
              <a:rPr lang="en-US" smtClean="0"/>
              <a:t>‹#›</a:t>
            </a:fld>
            <a:endParaRPr lang="en-US"/>
          </a:p>
        </p:txBody>
      </p:sp>
    </p:spTree>
    <p:extLst>
      <p:ext uri="{BB962C8B-B14F-4D97-AF65-F5344CB8AC3E}">
        <p14:creationId xmlns:p14="http://schemas.microsoft.com/office/powerpoint/2010/main" val="1561853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4D4DE8-B1DF-3956-CA01-3F417199453F}"/>
              </a:ext>
            </a:extLst>
          </p:cNvPr>
          <p:cNvSpPr>
            <a:spLocks noGrp="1"/>
          </p:cNvSpPr>
          <p:nvPr>
            <p:ph type="dt" sz="half" idx="10"/>
          </p:nvPr>
        </p:nvSpPr>
        <p:spPr/>
        <p:txBody>
          <a:bodyPr/>
          <a:lstStyle/>
          <a:p>
            <a:fld id="{64A45D18-2B89-43D1-A809-B54288AF222E}" type="datetimeFigureOut">
              <a:rPr lang="en-US" smtClean="0"/>
              <a:t>11/27/2023</a:t>
            </a:fld>
            <a:endParaRPr lang="en-US"/>
          </a:p>
        </p:txBody>
      </p:sp>
      <p:sp>
        <p:nvSpPr>
          <p:cNvPr id="3" name="Footer Placeholder 2">
            <a:extLst>
              <a:ext uri="{FF2B5EF4-FFF2-40B4-BE49-F238E27FC236}">
                <a16:creationId xmlns:a16="http://schemas.microsoft.com/office/drawing/2014/main" id="{C254E6A8-F418-9FAE-8745-705A95C59A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7620FB-E9FA-5E3B-501D-F7F8EB01083D}"/>
              </a:ext>
            </a:extLst>
          </p:cNvPr>
          <p:cNvSpPr>
            <a:spLocks noGrp="1"/>
          </p:cNvSpPr>
          <p:nvPr>
            <p:ph type="sldNum" sz="quarter" idx="12"/>
          </p:nvPr>
        </p:nvSpPr>
        <p:spPr/>
        <p:txBody>
          <a:bodyPr/>
          <a:lstStyle/>
          <a:p>
            <a:fld id="{B484184C-9347-4C22-B2D6-9DFFB62BB602}" type="slidenum">
              <a:rPr lang="en-US" smtClean="0"/>
              <a:t>‹#›</a:t>
            </a:fld>
            <a:endParaRPr lang="en-US"/>
          </a:p>
        </p:txBody>
      </p:sp>
    </p:spTree>
    <p:extLst>
      <p:ext uri="{BB962C8B-B14F-4D97-AF65-F5344CB8AC3E}">
        <p14:creationId xmlns:p14="http://schemas.microsoft.com/office/powerpoint/2010/main" val="2978590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AA4AD-97E9-3674-40DD-81D7B24DAE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4ACC95-290C-9AE0-DB8B-894F61ABE4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B42FB96-EFC3-A6AF-D33B-C97938968E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4ED470-6EDA-3A6C-5E43-342C78B6350E}"/>
              </a:ext>
            </a:extLst>
          </p:cNvPr>
          <p:cNvSpPr>
            <a:spLocks noGrp="1"/>
          </p:cNvSpPr>
          <p:nvPr>
            <p:ph type="dt" sz="half" idx="10"/>
          </p:nvPr>
        </p:nvSpPr>
        <p:spPr/>
        <p:txBody>
          <a:bodyPr/>
          <a:lstStyle/>
          <a:p>
            <a:fld id="{64A45D18-2B89-43D1-A809-B54288AF222E}" type="datetimeFigureOut">
              <a:rPr lang="en-US" smtClean="0"/>
              <a:t>11/27/2023</a:t>
            </a:fld>
            <a:endParaRPr lang="en-US"/>
          </a:p>
        </p:txBody>
      </p:sp>
      <p:sp>
        <p:nvSpPr>
          <p:cNvPr id="6" name="Footer Placeholder 5">
            <a:extLst>
              <a:ext uri="{FF2B5EF4-FFF2-40B4-BE49-F238E27FC236}">
                <a16:creationId xmlns:a16="http://schemas.microsoft.com/office/drawing/2014/main" id="{83E504F8-B953-5D90-1CC8-B21C7BC8B8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7DB471-A7F6-F737-F27B-6A475F597439}"/>
              </a:ext>
            </a:extLst>
          </p:cNvPr>
          <p:cNvSpPr>
            <a:spLocks noGrp="1"/>
          </p:cNvSpPr>
          <p:nvPr>
            <p:ph type="sldNum" sz="quarter" idx="12"/>
          </p:nvPr>
        </p:nvSpPr>
        <p:spPr/>
        <p:txBody>
          <a:bodyPr/>
          <a:lstStyle/>
          <a:p>
            <a:fld id="{B484184C-9347-4C22-B2D6-9DFFB62BB602}" type="slidenum">
              <a:rPr lang="en-US" smtClean="0"/>
              <a:t>‹#›</a:t>
            </a:fld>
            <a:endParaRPr lang="en-US"/>
          </a:p>
        </p:txBody>
      </p:sp>
    </p:spTree>
    <p:extLst>
      <p:ext uri="{BB962C8B-B14F-4D97-AF65-F5344CB8AC3E}">
        <p14:creationId xmlns:p14="http://schemas.microsoft.com/office/powerpoint/2010/main" val="2359243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577FE-2402-0557-DF6D-0581C2B597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23EE961-6B09-5F0D-AE3C-280C986215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D87C87A-427F-279E-7625-5D4FFFA05C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C6AC0F-9BCA-B53F-5D19-4AC13D60DD91}"/>
              </a:ext>
            </a:extLst>
          </p:cNvPr>
          <p:cNvSpPr>
            <a:spLocks noGrp="1"/>
          </p:cNvSpPr>
          <p:nvPr>
            <p:ph type="dt" sz="half" idx="10"/>
          </p:nvPr>
        </p:nvSpPr>
        <p:spPr/>
        <p:txBody>
          <a:bodyPr/>
          <a:lstStyle/>
          <a:p>
            <a:fld id="{64A45D18-2B89-43D1-A809-B54288AF222E}" type="datetimeFigureOut">
              <a:rPr lang="en-US" smtClean="0"/>
              <a:t>11/27/2023</a:t>
            </a:fld>
            <a:endParaRPr lang="en-US"/>
          </a:p>
        </p:txBody>
      </p:sp>
      <p:sp>
        <p:nvSpPr>
          <p:cNvPr id="6" name="Footer Placeholder 5">
            <a:extLst>
              <a:ext uri="{FF2B5EF4-FFF2-40B4-BE49-F238E27FC236}">
                <a16:creationId xmlns:a16="http://schemas.microsoft.com/office/drawing/2014/main" id="{72415233-12A6-76CC-D8A0-5AFDA11FE7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8D7909-E1D4-3A21-E21A-CECBC891F7DE}"/>
              </a:ext>
            </a:extLst>
          </p:cNvPr>
          <p:cNvSpPr>
            <a:spLocks noGrp="1"/>
          </p:cNvSpPr>
          <p:nvPr>
            <p:ph type="sldNum" sz="quarter" idx="12"/>
          </p:nvPr>
        </p:nvSpPr>
        <p:spPr/>
        <p:txBody>
          <a:bodyPr/>
          <a:lstStyle/>
          <a:p>
            <a:fld id="{B484184C-9347-4C22-B2D6-9DFFB62BB602}" type="slidenum">
              <a:rPr lang="en-US" smtClean="0"/>
              <a:t>‹#›</a:t>
            </a:fld>
            <a:endParaRPr lang="en-US"/>
          </a:p>
        </p:txBody>
      </p:sp>
    </p:spTree>
    <p:extLst>
      <p:ext uri="{BB962C8B-B14F-4D97-AF65-F5344CB8AC3E}">
        <p14:creationId xmlns:p14="http://schemas.microsoft.com/office/powerpoint/2010/main" val="3701171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FD290-D5A9-3B5A-05C5-61CDC45A60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CAC875-34C8-3715-1F33-64C50246E2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825204-BA6E-FEAE-70D9-9EE332D279E4}"/>
              </a:ext>
            </a:extLst>
          </p:cNvPr>
          <p:cNvSpPr>
            <a:spLocks noGrp="1"/>
          </p:cNvSpPr>
          <p:nvPr>
            <p:ph type="dt" sz="half" idx="10"/>
          </p:nvPr>
        </p:nvSpPr>
        <p:spPr/>
        <p:txBody>
          <a:bodyPr/>
          <a:lstStyle/>
          <a:p>
            <a:fld id="{64A45D18-2B89-43D1-A809-B54288AF222E}" type="datetimeFigureOut">
              <a:rPr lang="en-US" smtClean="0"/>
              <a:t>11/27/2023</a:t>
            </a:fld>
            <a:endParaRPr lang="en-US"/>
          </a:p>
        </p:txBody>
      </p:sp>
      <p:sp>
        <p:nvSpPr>
          <p:cNvPr id="5" name="Footer Placeholder 4">
            <a:extLst>
              <a:ext uri="{FF2B5EF4-FFF2-40B4-BE49-F238E27FC236}">
                <a16:creationId xmlns:a16="http://schemas.microsoft.com/office/drawing/2014/main" id="{E2B4E646-4E24-9242-C84C-FE9E2C954F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F297C0-81E7-07F3-F265-181194B7EBF3}"/>
              </a:ext>
            </a:extLst>
          </p:cNvPr>
          <p:cNvSpPr>
            <a:spLocks noGrp="1"/>
          </p:cNvSpPr>
          <p:nvPr>
            <p:ph type="sldNum" sz="quarter" idx="12"/>
          </p:nvPr>
        </p:nvSpPr>
        <p:spPr/>
        <p:txBody>
          <a:bodyPr/>
          <a:lstStyle/>
          <a:p>
            <a:fld id="{B484184C-9347-4C22-B2D6-9DFFB62BB602}" type="slidenum">
              <a:rPr lang="en-US" smtClean="0"/>
              <a:t>‹#›</a:t>
            </a:fld>
            <a:endParaRPr lang="en-US"/>
          </a:p>
        </p:txBody>
      </p:sp>
    </p:spTree>
    <p:extLst>
      <p:ext uri="{BB962C8B-B14F-4D97-AF65-F5344CB8AC3E}">
        <p14:creationId xmlns:p14="http://schemas.microsoft.com/office/powerpoint/2010/main" val="3824081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14704F-4F86-E69B-BE59-18CCC7B668F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FDABB6E-409E-8E8B-86EF-4B406466CA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E25BE6-CAF7-936E-34E7-3A738178F6BD}"/>
              </a:ext>
            </a:extLst>
          </p:cNvPr>
          <p:cNvSpPr>
            <a:spLocks noGrp="1"/>
          </p:cNvSpPr>
          <p:nvPr>
            <p:ph type="dt" sz="half" idx="10"/>
          </p:nvPr>
        </p:nvSpPr>
        <p:spPr/>
        <p:txBody>
          <a:bodyPr/>
          <a:lstStyle/>
          <a:p>
            <a:fld id="{64A45D18-2B89-43D1-A809-B54288AF222E}" type="datetimeFigureOut">
              <a:rPr lang="en-US" smtClean="0"/>
              <a:t>11/27/2023</a:t>
            </a:fld>
            <a:endParaRPr lang="en-US"/>
          </a:p>
        </p:txBody>
      </p:sp>
      <p:sp>
        <p:nvSpPr>
          <p:cNvPr id="5" name="Footer Placeholder 4">
            <a:extLst>
              <a:ext uri="{FF2B5EF4-FFF2-40B4-BE49-F238E27FC236}">
                <a16:creationId xmlns:a16="http://schemas.microsoft.com/office/drawing/2014/main" id="{F5E1DB45-FAF9-8454-919E-6A021E10F6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5F951A-6799-8517-C5E6-9F1D1744A696}"/>
              </a:ext>
            </a:extLst>
          </p:cNvPr>
          <p:cNvSpPr>
            <a:spLocks noGrp="1"/>
          </p:cNvSpPr>
          <p:nvPr>
            <p:ph type="sldNum" sz="quarter" idx="12"/>
          </p:nvPr>
        </p:nvSpPr>
        <p:spPr/>
        <p:txBody>
          <a:bodyPr/>
          <a:lstStyle/>
          <a:p>
            <a:fld id="{B484184C-9347-4C22-B2D6-9DFFB62BB602}" type="slidenum">
              <a:rPr lang="en-US" smtClean="0"/>
              <a:t>‹#›</a:t>
            </a:fld>
            <a:endParaRPr lang="en-US"/>
          </a:p>
        </p:txBody>
      </p:sp>
    </p:spTree>
    <p:extLst>
      <p:ext uri="{BB962C8B-B14F-4D97-AF65-F5344CB8AC3E}">
        <p14:creationId xmlns:p14="http://schemas.microsoft.com/office/powerpoint/2010/main" val="1652840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8AA480-763C-E327-DE05-C62189AED6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462312-7849-A9FC-648F-2247F0391E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D61C03-8F84-E2D5-7E0F-498200C051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A45D18-2B89-43D1-A809-B54288AF222E}" type="datetimeFigureOut">
              <a:rPr lang="en-US" smtClean="0"/>
              <a:t>11/27/2023</a:t>
            </a:fld>
            <a:endParaRPr lang="en-US"/>
          </a:p>
        </p:txBody>
      </p:sp>
      <p:sp>
        <p:nvSpPr>
          <p:cNvPr id="5" name="Footer Placeholder 4">
            <a:extLst>
              <a:ext uri="{FF2B5EF4-FFF2-40B4-BE49-F238E27FC236}">
                <a16:creationId xmlns:a16="http://schemas.microsoft.com/office/drawing/2014/main" id="{8B1416D3-362B-F908-6D1D-3F6127D3B4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FE93EB4-98D5-A378-10EE-CDECF01BDF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84184C-9347-4C22-B2D6-9DFFB62BB602}" type="slidenum">
              <a:rPr lang="en-US" smtClean="0"/>
              <a:t>‹#›</a:t>
            </a:fld>
            <a:endParaRPr lang="en-US"/>
          </a:p>
        </p:txBody>
      </p:sp>
    </p:spTree>
    <p:extLst>
      <p:ext uri="{BB962C8B-B14F-4D97-AF65-F5344CB8AC3E}">
        <p14:creationId xmlns:p14="http://schemas.microsoft.com/office/powerpoint/2010/main" val="1620415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Arc 15">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926E94A-677D-8157-34D4-3892D8CBA456}"/>
              </a:ext>
            </a:extLst>
          </p:cNvPr>
          <p:cNvSpPr>
            <a:spLocks noGrp="1"/>
          </p:cNvSpPr>
          <p:nvPr>
            <p:ph type="ctrTitle"/>
          </p:nvPr>
        </p:nvSpPr>
        <p:spPr>
          <a:xfrm>
            <a:off x="4038600" y="1939159"/>
            <a:ext cx="7644627" cy="2751086"/>
          </a:xfrm>
        </p:spPr>
        <p:txBody>
          <a:bodyPr>
            <a:normAutofit/>
          </a:bodyPr>
          <a:lstStyle/>
          <a:p>
            <a:pPr algn="r"/>
            <a:r>
              <a:rPr lang="en-US" dirty="0"/>
              <a:t>Treatment Visualization</a:t>
            </a:r>
          </a:p>
        </p:txBody>
      </p:sp>
      <p:sp>
        <p:nvSpPr>
          <p:cNvPr id="3" name="Subtitle 2">
            <a:extLst>
              <a:ext uri="{FF2B5EF4-FFF2-40B4-BE49-F238E27FC236}">
                <a16:creationId xmlns:a16="http://schemas.microsoft.com/office/drawing/2014/main" id="{19D3DB65-0607-D84C-0384-E64A9C3B51C7}"/>
              </a:ext>
            </a:extLst>
          </p:cNvPr>
          <p:cNvSpPr>
            <a:spLocks noGrp="1"/>
          </p:cNvSpPr>
          <p:nvPr>
            <p:ph type="subTitle" idx="1"/>
          </p:nvPr>
        </p:nvSpPr>
        <p:spPr>
          <a:xfrm>
            <a:off x="4038600" y="4782320"/>
            <a:ext cx="7644627" cy="1329443"/>
          </a:xfrm>
        </p:spPr>
        <p:txBody>
          <a:bodyPr>
            <a:normAutofit/>
          </a:bodyPr>
          <a:lstStyle/>
          <a:p>
            <a:pPr algn="r"/>
            <a:r>
              <a:rPr lang="en-US" dirty="0"/>
              <a:t>Depth Estimation of Melanoma Skin Lesions through Explainable AI and Hologram Generation</a:t>
            </a:r>
            <a:endParaRPr lang="en-US"/>
          </a:p>
        </p:txBody>
      </p:sp>
    </p:spTree>
    <p:extLst>
      <p:ext uri="{BB962C8B-B14F-4D97-AF65-F5344CB8AC3E}">
        <p14:creationId xmlns:p14="http://schemas.microsoft.com/office/powerpoint/2010/main" val="1304088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7C59BEC-C4CC-4741-B975-08C543178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72DEF309-605D-4117-9340-6D589B6C3A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6173" flipV="1">
            <a:off x="3930947" y="651615"/>
            <a:ext cx="4083433" cy="408343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itle 1">
            <a:extLst>
              <a:ext uri="{FF2B5EF4-FFF2-40B4-BE49-F238E27FC236}">
                <a16:creationId xmlns:a16="http://schemas.microsoft.com/office/drawing/2014/main" id="{342BB64B-0F71-A93D-D274-B7187C6C82F5}"/>
              </a:ext>
            </a:extLst>
          </p:cNvPr>
          <p:cNvSpPr>
            <a:spLocks noGrp="1"/>
          </p:cNvSpPr>
          <p:nvPr>
            <p:ph type="title"/>
          </p:nvPr>
        </p:nvSpPr>
        <p:spPr>
          <a:xfrm>
            <a:off x="838200" y="365125"/>
            <a:ext cx="10515599" cy="1325563"/>
          </a:xfrm>
        </p:spPr>
        <p:txBody>
          <a:bodyPr>
            <a:normAutofit/>
          </a:bodyPr>
          <a:lstStyle/>
          <a:p>
            <a:r>
              <a:rPr lang="en-US" dirty="0"/>
              <a:t>Outline</a:t>
            </a:r>
          </a:p>
        </p:txBody>
      </p:sp>
      <p:sp>
        <p:nvSpPr>
          <p:cNvPr id="3" name="Content Placeholder 2">
            <a:extLst>
              <a:ext uri="{FF2B5EF4-FFF2-40B4-BE49-F238E27FC236}">
                <a16:creationId xmlns:a16="http://schemas.microsoft.com/office/drawing/2014/main" id="{C6487EAE-EBE6-8504-E7D0-A1F02C6CBEED}"/>
              </a:ext>
            </a:extLst>
          </p:cNvPr>
          <p:cNvSpPr>
            <a:spLocks noGrp="1"/>
          </p:cNvSpPr>
          <p:nvPr>
            <p:ph idx="1"/>
          </p:nvPr>
        </p:nvSpPr>
        <p:spPr>
          <a:xfrm>
            <a:off x="838200" y="1825625"/>
            <a:ext cx="5393361" cy="4351338"/>
          </a:xfrm>
        </p:spPr>
        <p:txBody>
          <a:bodyPr>
            <a:normAutofit/>
          </a:bodyPr>
          <a:lstStyle/>
          <a:p>
            <a:r>
              <a:rPr lang="en-US" dirty="0"/>
              <a:t>Introduction: Problem Statement, Case Study</a:t>
            </a:r>
          </a:p>
          <a:p>
            <a:r>
              <a:rPr lang="en-US" dirty="0"/>
              <a:t>Key Literature</a:t>
            </a:r>
          </a:p>
          <a:p>
            <a:r>
              <a:rPr lang="en-US" dirty="0"/>
              <a:t>Methodology: ML + XAI</a:t>
            </a:r>
          </a:p>
          <a:p>
            <a:r>
              <a:rPr lang="en-US" dirty="0"/>
              <a:t>Methodology: 3D Hologram Generation</a:t>
            </a:r>
          </a:p>
          <a:p>
            <a:r>
              <a:rPr lang="en-US" dirty="0"/>
              <a:t>Results and Conclusion</a:t>
            </a:r>
          </a:p>
          <a:p>
            <a:r>
              <a:rPr lang="en-US" dirty="0"/>
              <a:t>Future Work </a:t>
            </a:r>
          </a:p>
          <a:p>
            <a:r>
              <a:rPr lang="en-US" dirty="0"/>
              <a:t>References</a:t>
            </a:r>
          </a:p>
        </p:txBody>
      </p:sp>
      <p:sp>
        <p:nvSpPr>
          <p:cNvPr id="14" name="Oval 13">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77008" y="5228027"/>
            <a:ext cx="1107241" cy="10772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7" name="Graphic 6" descr="Check List">
            <a:extLst>
              <a:ext uri="{FF2B5EF4-FFF2-40B4-BE49-F238E27FC236}">
                <a16:creationId xmlns:a16="http://schemas.microsoft.com/office/drawing/2014/main" id="{B4919895-07A6-F8FB-1661-BEDAA663000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09962" y="1929820"/>
            <a:ext cx="4221597" cy="4221597"/>
          </a:xfrm>
          <a:custGeom>
            <a:avLst/>
            <a:gdLst/>
            <a:ahLst/>
            <a:cxnLst/>
            <a:rect l="l" t="t" r="r" b="b"/>
            <a:pathLst>
              <a:path w="4221597" h="4303912">
                <a:moveTo>
                  <a:pt x="126986" y="0"/>
                </a:moveTo>
                <a:lnTo>
                  <a:pt x="4094611" y="0"/>
                </a:lnTo>
                <a:cubicBezTo>
                  <a:pt x="4164743" y="0"/>
                  <a:pt x="4221597" y="56854"/>
                  <a:pt x="4221597" y="126986"/>
                </a:cubicBezTo>
                <a:lnTo>
                  <a:pt x="4221597" y="4176926"/>
                </a:lnTo>
                <a:cubicBezTo>
                  <a:pt x="4221597" y="4247058"/>
                  <a:pt x="4164743" y="4303912"/>
                  <a:pt x="4094611" y="4303912"/>
                </a:cubicBezTo>
                <a:lnTo>
                  <a:pt x="126986" y="4303912"/>
                </a:lnTo>
                <a:cubicBezTo>
                  <a:pt x="56854" y="4303912"/>
                  <a:pt x="0" y="4247058"/>
                  <a:pt x="0" y="4176926"/>
                </a:cubicBezTo>
                <a:lnTo>
                  <a:pt x="0" y="126986"/>
                </a:lnTo>
                <a:cubicBezTo>
                  <a:pt x="0" y="56854"/>
                  <a:pt x="56854" y="0"/>
                  <a:pt x="126986" y="0"/>
                </a:cubicBezTo>
                <a:close/>
              </a:path>
            </a:pathLst>
          </a:custGeom>
        </p:spPr>
      </p:pic>
    </p:spTree>
    <p:extLst>
      <p:ext uri="{BB962C8B-B14F-4D97-AF65-F5344CB8AC3E}">
        <p14:creationId xmlns:p14="http://schemas.microsoft.com/office/powerpoint/2010/main" val="152353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35E930-E0E7-9982-95FB-D0571D0E3B5A}"/>
              </a:ext>
            </a:extLst>
          </p:cNvPr>
          <p:cNvSpPr>
            <a:spLocks noGrp="1"/>
          </p:cNvSpPr>
          <p:nvPr>
            <p:ph type="title"/>
          </p:nvPr>
        </p:nvSpPr>
        <p:spPr>
          <a:xfrm>
            <a:off x="838200" y="556995"/>
            <a:ext cx="10515600" cy="1133693"/>
          </a:xfrm>
        </p:spPr>
        <p:txBody>
          <a:bodyPr>
            <a:normAutofit/>
          </a:bodyPr>
          <a:lstStyle/>
          <a:p>
            <a:r>
              <a:rPr lang="en-US" sz="5200"/>
              <a:t>Introduction</a:t>
            </a:r>
          </a:p>
        </p:txBody>
      </p:sp>
      <p:graphicFrame>
        <p:nvGraphicFramePr>
          <p:cNvPr id="5" name="Content Placeholder 2">
            <a:extLst>
              <a:ext uri="{FF2B5EF4-FFF2-40B4-BE49-F238E27FC236}">
                <a16:creationId xmlns:a16="http://schemas.microsoft.com/office/drawing/2014/main" id="{1DCF36F5-D4F4-DAFC-21DF-E2E615BF970E}"/>
              </a:ext>
            </a:extLst>
          </p:cNvPr>
          <p:cNvGraphicFramePr>
            <a:graphicFrameLocks noGrp="1"/>
          </p:cNvGraphicFramePr>
          <p:nvPr>
            <p:ph idx="1"/>
            <p:extLst>
              <p:ext uri="{D42A27DB-BD31-4B8C-83A1-F6EECF244321}">
                <p14:modId xmlns:p14="http://schemas.microsoft.com/office/powerpoint/2010/main" val="143545772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22874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bstract blurred public library with bookshelves">
            <a:extLst>
              <a:ext uri="{FF2B5EF4-FFF2-40B4-BE49-F238E27FC236}">
                <a16:creationId xmlns:a16="http://schemas.microsoft.com/office/drawing/2014/main" id="{816720E7-4B52-BC68-2CAF-E03B684993E7}"/>
              </a:ext>
            </a:extLst>
          </p:cNvPr>
          <p:cNvPicPr>
            <a:picLocks noChangeAspect="1"/>
          </p:cNvPicPr>
          <p:nvPr/>
        </p:nvPicPr>
        <p:blipFill rotWithShape="1">
          <a:blip r:embed="rId3"/>
          <a:srcRect l="15200" r="37539" b="-1"/>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11" name="!!Arc">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3531" y="407987"/>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48F3B9F-E82D-85FC-80C8-F2F721694706}"/>
              </a:ext>
            </a:extLst>
          </p:cNvPr>
          <p:cNvSpPr>
            <a:spLocks noGrp="1"/>
          </p:cNvSpPr>
          <p:nvPr>
            <p:ph type="title"/>
          </p:nvPr>
        </p:nvSpPr>
        <p:spPr>
          <a:xfrm>
            <a:off x="5827048" y="407987"/>
            <a:ext cx="5721484" cy="1325563"/>
          </a:xfrm>
        </p:spPr>
        <p:txBody>
          <a:bodyPr>
            <a:normAutofit/>
          </a:bodyPr>
          <a:lstStyle/>
          <a:p>
            <a:r>
              <a:rPr lang="en-US"/>
              <a:t>Key Literature</a:t>
            </a:r>
            <a:endParaRPr lang="en-US" dirty="0"/>
          </a:p>
        </p:txBody>
      </p:sp>
      <p:sp>
        <p:nvSpPr>
          <p:cNvPr id="3" name="Content Placeholder 2">
            <a:extLst>
              <a:ext uri="{FF2B5EF4-FFF2-40B4-BE49-F238E27FC236}">
                <a16:creationId xmlns:a16="http://schemas.microsoft.com/office/drawing/2014/main" id="{19E21295-71B3-DAC0-0B9E-14EE7514DF57}"/>
              </a:ext>
            </a:extLst>
          </p:cNvPr>
          <p:cNvSpPr>
            <a:spLocks noGrp="1"/>
          </p:cNvSpPr>
          <p:nvPr>
            <p:ph idx="1"/>
          </p:nvPr>
        </p:nvSpPr>
        <p:spPr>
          <a:xfrm>
            <a:off x="5827048" y="1868487"/>
            <a:ext cx="5721484" cy="4351338"/>
          </a:xfrm>
        </p:spPr>
        <p:txBody>
          <a:bodyPr>
            <a:normAutofit/>
          </a:bodyPr>
          <a:lstStyle/>
          <a:p>
            <a:r>
              <a:rPr lang="en-US" sz="2200" dirty="0"/>
              <a:t>“Towards Enhancing Extended Reality for Healthcare Applications with Machine Learning” – For the Case Study (2023) [1]</a:t>
            </a:r>
          </a:p>
          <a:p>
            <a:r>
              <a:rPr lang="en-US" sz="2200" dirty="0"/>
              <a:t>“Melanoma is skin deep: a 3d reconstruction technique for computerized </a:t>
            </a:r>
            <a:r>
              <a:rPr lang="en-US" sz="2200" dirty="0" err="1"/>
              <a:t>dermoscopic</a:t>
            </a:r>
            <a:r>
              <a:rPr lang="en-US" sz="2200" dirty="0"/>
              <a:t> skin lesion classification.” – For information on melanoma and skin lesion depth (2017) [2]</a:t>
            </a:r>
          </a:p>
          <a:p>
            <a:r>
              <a:rPr lang="en-US" sz="2200" dirty="0"/>
              <a:t>“Grad-cam: Why did you say that?” – For XAI component (2016) [3]</a:t>
            </a:r>
          </a:p>
          <a:p>
            <a:r>
              <a:rPr lang="en-US" sz="2200" dirty="0"/>
              <a:t>“Defocus map estimation from a single image.” – For estimating depth from a single image (2011) [4]</a:t>
            </a:r>
          </a:p>
        </p:txBody>
      </p:sp>
    </p:spTree>
    <p:extLst>
      <p:ext uri="{BB962C8B-B14F-4D97-AF65-F5344CB8AC3E}">
        <p14:creationId xmlns:p14="http://schemas.microsoft.com/office/powerpoint/2010/main" val="140194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C29740-7073-7E00-1940-61F7A91FEF41}"/>
              </a:ext>
            </a:extLst>
          </p:cNvPr>
          <p:cNvSpPr>
            <a:spLocks noGrp="1"/>
          </p:cNvSpPr>
          <p:nvPr>
            <p:ph type="title"/>
          </p:nvPr>
        </p:nvSpPr>
        <p:spPr>
          <a:xfrm>
            <a:off x="1075767" y="1188637"/>
            <a:ext cx="2988234" cy="4480726"/>
          </a:xfrm>
        </p:spPr>
        <p:txBody>
          <a:bodyPr>
            <a:normAutofit/>
          </a:bodyPr>
          <a:lstStyle/>
          <a:p>
            <a:pPr algn="r"/>
            <a:r>
              <a:rPr lang="en-US" sz="3600"/>
              <a:t>Methodology: ML + XAI</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062F560-BB00-42F6-8347-DDBD4876F100}"/>
              </a:ext>
            </a:extLst>
          </p:cNvPr>
          <p:cNvSpPr>
            <a:spLocks noGrp="1"/>
          </p:cNvSpPr>
          <p:nvPr>
            <p:ph idx="1"/>
          </p:nvPr>
        </p:nvSpPr>
        <p:spPr>
          <a:xfrm>
            <a:off x="4931411" y="1495425"/>
            <a:ext cx="5803264" cy="3714750"/>
          </a:xfrm>
        </p:spPr>
        <p:txBody>
          <a:bodyPr anchor="ctr">
            <a:normAutofit/>
          </a:bodyPr>
          <a:lstStyle/>
          <a:p>
            <a:r>
              <a:rPr lang="en-US" sz="2200" dirty="0"/>
              <a:t>We get the probability of a lesion being malignant to categorize its severity.</a:t>
            </a:r>
          </a:p>
          <a:p>
            <a:r>
              <a:rPr lang="en-US" sz="2200" dirty="0"/>
              <a:t>Dataset Used: Processed skin cancer images from the ISIC archive</a:t>
            </a:r>
          </a:p>
          <a:p>
            <a:r>
              <a:rPr lang="en-US" sz="2200" dirty="0"/>
              <a:t>Slightly unbalanced with 1497 malignant and 1800 benign images. </a:t>
            </a:r>
          </a:p>
          <a:p>
            <a:r>
              <a:rPr lang="en-US" sz="2200" dirty="0"/>
              <a:t>Each image has a shape (224, 224, 3) with RGB channels.</a:t>
            </a:r>
          </a:p>
        </p:txBody>
      </p:sp>
    </p:spTree>
    <p:extLst>
      <p:ext uri="{BB962C8B-B14F-4D97-AF65-F5344CB8AC3E}">
        <p14:creationId xmlns:p14="http://schemas.microsoft.com/office/powerpoint/2010/main" val="387737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 name="Rectangle 40">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AA85AE-ADBB-6E30-E894-85B2357244F1}"/>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sz="4000" kern="1200">
                <a:solidFill>
                  <a:schemeClr val="tx1"/>
                </a:solidFill>
                <a:latin typeface="+mj-lt"/>
                <a:ea typeface="+mj-ea"/>
                <a:cs typeface="+mj-cs"/>
              </a:rPr>
              <a:t>Dataset Preprocessing</a:t>
            </a:r>
          </a:p>
        </p:txBody>
      </p:sp>
      <p:sp>
        <p:nvSpPr>
          <p:cNvPr id="43" name="Rectangle 42">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5" name="Rectangle 44">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26032" y="1067264"/>
            <a:ext cx="1021458"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Content Placeholder 4" descr="A close-up of a person's skin&#10;&#10;Description automatically generated">
            <a:extLst>
              <a:ext uri="{FF2B5EF4-FFF2-40B4-BE49-F238E27FC236}">
                <a16:creationId xmlns:a16="http://schemas.microsoft.com/office/drawing/2014/main" id="{6B7BF04A-A6F3-8C1D-92C5-4048370B98D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85925" y="2046193"/>
            <a:ext cx="8503783" cy="4507005"/>
          </a:xfrm>
          <a:prstGeom prst="rect">
            <a:avLst/>
          </a:prstGeom>
        </p:spPr>
      </p:pic>
    </p:spTree>
    <p:extLst>
      <p:ext uri="{BB962C8B-B14F-4D97-AF65-F5344CB8AC3E}">
        <p14:creationId xmlns:p14="http://schemas.microsoft.com/office/powerpoint/2010/main" val="2650258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5EAAAA-9DA3-C0EF-71C1-61C8E647027D}"/>
              </a:ext>
            </a:extLst>
          </p:cNvPr>
          <p:cNvSpPr>
            <a:spLocks noGrp="1"/>
          </p:cNvSpPr>
          <p:nvPr>
            <p:ph type="title"/>
          </p:nvPr>
        </p:nvSpPr>
        <p:spPr>
          <a:xfrm>
            <a:off x="793662" y="386930"/>
            <a:ext cx="10066122" cy="1298448"/>
          </a:xfrm>
        </p:spPr>
        <p:txBody>
          <a:bodyPr anchor="b">
            <a:normAutofit/>
          </a:bodyPr>
          <a:lstStyle/>
          <a:p>
            <a:r>
              <a:rPr lang="en-US" sz="4800" dirty="0"/>
              <a:t>Model</a:t>
            </a:r>
          </a:p>
        </p:txBody>
      </p:sp>
      <p:sp>
        <p:nvSpPr>
          <p:cNvPr id="23" name="Rectangle 2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D29C06B-2E72-6E64-BC4A-C37180F07ABE}"/>
              </a:ext>
            </a:extLst>
          </p:cNvPr>
          <p:cNvSpPr>
            <a:spLocks noGrp="1"/>
          </p:cNvSpPr>
          <p:nvPr>
            <p:ph idx="1"/>
          </p:nvPr>
        </p:nvSpPr>
        <p:spPr>
          <a:xfrm>
            <a:off x="793661" y="2599509"/>
            <a:ext cx="4530898" cy="3639450"/>
          </a:xfrm>
        </p:spPr>
        <p:txBody>
          <a:bodyPr anchor="ctr">
            <a:normAutofit/>
          </a:bodyPr>
          <a:lstStyle/>
          <a:p>
            <a:r>
              <a:rPr lang="en-US" sz="2000" dirty="0"/>
              <a:t>Model Used: Baseline pre-trained VGG19 with a functional model on top.</a:t>
            </a:r>
          </a:p>
          <a:p>
            <a:r>
              <a:rPr lang="en-US" sz="2000" dirty="0"/>
              <a:t>VGG19 weights are pre-trained on the standard ImageNet dataset.</a:t>
            </a:r>
          </a:p>
          <a:p>
            <a:r>
              <a:rPr lang="en-US" sz="2000" dirty="0"/>
              <a:t>The functional model uses Flatten on the base model output and performs hierarchical feature reduction with 6 Dense layers. </a:t>
            </a:r>
          </a:p>
          <a:p>
            <a:endParaRPr lang="en-US" sz="2000" dirty="0"/>
          </a:p>
        </p:txBody>
      </p:sp>
      <p:pic>
        <p:nvPicPr>
          <p:cNvPr id="5" name="Picture 4" descr="A diagram of a structure&#10;&#10;Description automatically generated">
            <a:extLst>
              <a:ext uri="{FF2B5EF4-FFF2-40B4-BE49-F238E27FC236}">
                <a16:creationId xmlns:a16="http://schemas.microsoft.com/office/drawing/2014/main" id="{CEFD9BF3-7A9C-D9BD-867F-909A5CAD15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1525" y="3152729"/>
            <a:ext cx="5861837" cy="1626660"/>
          </a:xfrm>
          <a:prstGeom prst="rect">
            <a:avLst/>
          </a:prstGeom>
        </p:spPr>
      </p:pic>
      <p:sp>
        <p:nvSpPr>
          <p:cNvPr id="27" name="Rectangle 2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4816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Freeform: Shape 24">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6">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E90EB0-C63B-87C2-6B6A-5BF0738A8CA4}"/>
              </a:ext>
            </a:extLst>
          </p:cNvPr>
          <p:cNvSpPr>
            <a:spLocks noGrp="1"/>
          </p:cNvSpPr>
          <p:nvPr>
            <p:ph type="title"/>
          </p:nvPr>
        </p:nvSpPr>
        <p:spPr>
          <a:xfrm>
            <a:off x="438913" y="859536"/>
            <a:ext cx="4832802" cy="1243584"/>
          </a:xfrm>
        </p:spPr>
        <p:txBody>
          <a:bodyPr>
            <a:normAutofit/>
          </a:bodyPr>
          <a:lstStyle/>
          <a:p>
            <a:r>
              <a:rPr lang="en-US" sz="3400"/>
              <a:t>GradCAM algorithm</a:t>
            </a:r>
          </a:p>
        </p:txBody>
      </p:sp>
      <p:sp>
        <p:nvSpPr>
          <p:cNvPr id="29" name="Rectangle 28">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7" name="Rectangle 36">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D4696CF-7668-4E2B-235A-2B18764CC5DB}"/>
              </a:ext>
            </a:extLst>
          </p:cNvPr>
          <p:cNvSpPr>
            <a:spLocks noGrp="1"/>
          </p:cNvSpPr>
          <p:nvPr>
            <p:ph idx="1"/>
          </p:nvPr>
        </p:nvSpPr>
        <p:spPr>
          <a:xfrm>
            <a:off x="438912" y="2512611"/>
            <a:ext cx="4832803" cy="3664351"/>
          </a:xfrm>
        </p:spPr>
        <p:txBody>
          <a:bodyPr>
            <a:normAutofit/>
          </a:bodyPr>
          <a:lstStyle/>
          <a:p>
            <a:r>
              <a:rPr lang="en-US" sz="2400" dirty="0"/>
              <a:t>An intrinsically implemented XAI technique to localize the essential parameters of an image. </a:t>
            </a:r>
          </a:p>
          <a:p>
            <a:r>
              <a:rPr lang="en-US" sz="2400" dirty="0"/>
              <a:t> </a:t>
            </a:r>
            <a:r>
              <a:rPr lang="en-US" sz="2400" dirty="0" err="1"/>
              <a:t>GradCAM's</a:t>
            </a:r>
            <a:r>
              <a:rPr lang="en-US" sz="2400" dirty="0"/>
              <a:t> role is to highlight the image area responsible for the said output. (Segmentation of sorts)</a:t>
            </a:r>
          </a:p>
          <a:p>
            <a:r>
              <a:rPr lang="en-US" sz="2400" dirty="0"/>
              <a:t>It creates a localized mapping depicting the essential features and is used after the last convolution layer of the model. </a:t>
            </a:r>
          </a:p>
        </p:txBody>
      </p:sp>
      <p:pic>
        <p:nvPicPr>
          <p:cNvPr id="5" name="Picture 4" descr="A diagram of a graph&#10;&#10;Description automatically generated">
            <a:extLst>
              <a:ext uri="{FF2B5EF4-FFF2-40B4-BE49-F238E27FC236}">
                <a16:creationId xmlns:a16="http://schemas.microsoft.com/office/drawing/2014/main" id="{D249CCED-2802-A13C-85C9-AE7B74BEA3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1043" y="151005"/>
            <a:ext cx="4479497" cy="3214040"/>
          </a:xfrm>
          <a:prstGeom prst="rect">
            <a:avLst/>
          </a:prstGeom>
        </p:spPr>
      </p:pic>
      <p:pic>
        <p:nvPicPr>
          <p:cNvPr id="8" name="Picture 7" descr="A close-up of different colored squares&#10;&#10;Description automatically generated">
            <a:extLst>
              <a:ext uri="{FF2B5EF4-FFF2-40B4-BE49-F238E27FC236}">
                <a16:creationId xmlns:a16="http://schemas.microsoft.com/office/drawing/2014/main" id="{7B24E76A-419F-7C68-B33D-1C474F3C7A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11043" y="3536481"/>
            <a:ext cx="4295132" cy="2574282"/>
          </a:xfrm>
          <a:prstGeom prst="rect">
            <a:avLst/>
          </a:prstGeom>
        </p:spPr>
      </p:pic>
    </p:spTree>
    <p:extLst>
      <p:ext uri="{BB962C8B-B14F-4D97-AF65-F5344CB8AC3E}">
        <p14:creationId xmlns:p14="http://schemas.microsoft.com/office/powerpoint/2010/main" val="4191155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352060-98DC-7739-5325-7BE661FDEE3E}"/>
              </a:ext>
            </a:extLst>
          </p:cNvPr>
          <p:cNvSpPr>
            <a:spLocks noGrp="1"/>
          </p:cNvSpPr>
          <p:nvPr>
            <p:ph type="title"/>
          </p:nvPr>
        </p:nvSpPr>
        <p:spPr>
          <a:xfrm>
            <a:off x="1008184" y="174032"/>
            <a:ext cx="10175631" cy="1111843"/>
          </a:xfrm>
        </p:spPr>
        <p:txBody>
          <a:bodyPr anchor="ctr">
            <a:normAutofit/>
          </a:bodyPr>
          <a:lstStyle/>
          <a:p>
            <a:pPr algn="ctr"/>
            <a:r>
              <a:rPr lang="en-US" sz="4000"/>
              <a:t>Model Results </a:t>
            </a:r>
          </a:p>
        </p:txBody>
      </p:sp>
      <p:sp>
        <p:nvSpPr>
          <p:cNvPr id="9" name="Content Placeholder 8">
            <a:extLst>
              <a:ext uri="{FF2B5EF4-FFF2-40B4-BE49-F238E27FC236}">
                <a16:creationId xmlns:a16="http://schemas.microsoft.com/office/drawing/2014/main" id="{6BBA3034-FBAA-A85E-5113-28E489EEE3F4}"/>
              </a:ext>
            </a:extLst>
          </p:cNvPr>
          <p:cNvSpPr>
            <a:spLocks noGrp="1"/>
          </p:cNvSpPr>
          <p:nvPr>
            <p:ph idx="1"/>
          </p:nvPr>
        </p:nvSpPr>
        <p:spPr>
          <a:xfrm>
            <a:off x="1091983" y="1075955"/>
            <a:ext cx="10175630" cy="767904"/>
          </a:xfrm>
        </p:spPr>
        <p:txBody>
          <a:bodyPr anchor="ctr">
            <a:normAutofit/>
          </a:bodyPr>
          <a:lstStyle/>
          <a:p>
            <a:pPr algn="ctr"/>
            <a:r>
              <a:rPr lang="en-US" sz="2000" dirty="0"/>
              <a:t>The Evaluation metrics are calculated on the testing data</a:t>
            </a:r>
          </a:p>
        </p:txBody>
      </p:sp>
      <p:pic>
        <p:nvPicPr>
          <p:cNvPr id="5" name="Content Placeholder 4" descr="A screenshot of a graph&#10;&#10;Description automatically generated">
            <a:extLst>
              <a:ext uri="{FF2B5EF4-FFF2-40B4-BE49-F238E27FC236}">
                <a16:creationId xmlns:a16="http://schemas.microsoft.com/office/drawing/2014/main" id="{197C1491-8ED4-9783-FFC8-769005EF65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5458" y="1973282"/>
            <a:ext cx="8385852" cy="4633184"/>
          </a:xfrm>
          <a:prstGeom prst="rect">
            <a:avLst/>
          </a:prstGeom>
        </p:spPr>
      </p:pic>
    </p:spTree>
    <p:extLst>
      <p:ext uri="{BB962C8B-B14F-4D97-AF65-F5344CB8AC3E}">
        <p14:creationId xmlns:p14="http://schemas.microsoft.com/office/powerpoint/2010/main" val="58412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31748F-1369-3FDD-6A6D-581C2D892106}"/>
              </a:ext>
            </a:extLst>
          </p:cNvPr>
          <p:cNvSpPr>
            <a:spLocks noGrp="1"/>
          </p:cNvSpPr>
          <p:nvPr>
            <p:ph type="title"/>
          </p:nvPr>
        </p:nvSpPr>
        <p:spPr>
          <a:xfrm>
            <a:off x="841248" y="256032"/>
            <a:ext cx="10506456" cy="1014984"/>
          </a:xfrm>
        </p:spPr>
        <p:txBody>
          <a:bodyPr anchor="b">
            <a:normAutofit/>
          </a:bodyPr>
          <a:lstStyle/>
          <a:p>
            <a:r>
              <a:rPr lang="en-US"/>
              <a:t>Methodology: 3D Hologram Generation</a:t>
            </a:r>
            <a:endParaRPr lang="en-US" dirty="0"/>
          </a:p>
        </p:txBody>
      </p:sp>
      <p:sp>
        <p:nvSpPr>
          <p:cNvPr id="12" name="Rectangle 1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9A6C0AB-AFBE-35EC-47DA-50473D2B76A6}"/>
              </a:ext>
            </a:extLst>
          </p:cNvPr>
          <p:cNvSpPr>
            <a:spLocks/>
          </p:cNvSpPr>
          <p:nvPr/>
        </p:nvSpPr>
        <p:spPr>
          <a:xfrm>
            <a:off x="838200" y="1929359"/>
            <a:ext cx="10515600" cy="4351338"/>
          </a:xfrm>
          <a:prstGeom prst="rect">
            <a:avLst/>
          </a:prstGeom>
        </p:spPr>
        <p:txBody>
          <a:bodyPr/>
          <a:lstStyle/>
          <a:p>
            <a:pPr>
              <a:spcAft>
                <a:spcPts val="600"/>
              </a:spcAft>
            </a:pPr>
            <a:r>
              <a:rPr lang="en-US" sz="1800" kern="1200">
                <a:solidFill>
                  <a:schemeClr val="tx1"/>
                </a:solidFill>
                <a:latin typeface="+mn-lt"/>
                <a:ea typeface="+mn-ea"/>
                <a:cs typeface="+mn-cs"/>
              </a:rPr>
              <a:t> </a:t>
            </a:r>
            <a:r>
              <a:rPr lang="en-US" sz="2800" kern="1200">
                <a:solidFill>
                  <a:schemeClr val="tx1"/>
                </a:solidFill>
                <a:latin typeface="+mn-lt"/>
                <a:ea typeface="+mn-ea"/>
                <a:cs typeface="+mn-cs"/>
              </a:rPr>
              <a:t>3-step procedure</a:t>
            </a:r>
            <a:r>
              <a:rPr lang="en-US" sz="1800" kern="1200">
                <a:solidFill>
                  <a:schemeClr val="tx1"/>
                </a:solidFill>
                <a:latin typeface="+mn-lt"/>
                <a:ea typeface="+mn-ea"/>
                <a:cs typeface="+mn-cs"/>
              </a:rPr>
              <a:t>: </a:t>
            </a:r>
            <a:endParaRPr lang="en-US" dirty="0"/>
          </a:p>
        </p:txBody>
      </p:sp>
      <p:sp>
        <p:nvSpPr>
          <p:cNvPr id="4" name="TextBox 3">
            <a:extLst>
              <a:ext uri="{FF2B5EF4-FFF2-40B4-BE49-F238E27FC236}">
                <a16:creationId xmlns:a16="http://schemas.microsoft.com/office/drawing/2014/main" id="{5EA4D6AF-FED7-07D1-FE1C-863DB9C30C14}"/>
              </a:ext>
            </a:extLst>
          </p:cNvPr>
          <p:cNvSpPr txBox="1"/>
          <p:nvPr/>
        </p:nvSpPr>
        <p:spPr>
          <a:xfrm>
            <a:off x="1524000" y="2689256"/>
            <a:ext cx="8667750" cy="2831544"/>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kern="1200" dirty="0">
                <a:solidFill>
                  <a:schemeClr val="tx1"/>
                </a:solidFill>
                <a:latin typeface="+mn-lt"/>
                <a:ea typeface="+mn-ea"/>
                <a:cs typeface="+mn-cs"/>
              </a:rPr>
              <a:t>Estimating depth from defocus occurrence: Used for depth map estimation from a singular image</a:t>
            </a:r>
          </a:p>
          <a:p>
            <a:pPr marL="285750" indent="-285750">
              <a:spcAft>
                <a:spcPts val="600"/>
              </a:spcAft>
              <a:buFont typeface="Arial" panose="020B0604020202020204" pitchFamily="34" charset="0"/>
              <a:buChar char="•"/>
            </a:pPr>
            <a:r>
              <a:rPr lang="en-US" sz="2800" kern="1200" dirty="0">
                <a:solidFill>
                  <a:schemeClr val="tx1"/>
                </a:solidFill>
                <a:latin typeface="+mn-lt"/>
                <a:ea typeface="+mn-ea"/>
                <a:cs typeface="+mn-cs"/>
              </a:rPr>
              <a:t>3D structure representation of the depth: Using Gabor filters</a:t>
            </a:r>
          </a:p>
          <a:p>
            <a:pPr marL="285750" indent="-285750">
              <a:spcAft>
                <a:spcPts val="600"/>
              </a:spcAft>
              <a:buFont typeface="Arial" panose="020B0604020202020204" pitchFamily="34" charset="0"/>
              <a:buChar char="•"/>
            </a:pPr>
            <a:r>
              <a:rPr lang="en-US" sz="2800" kern="1200" dirty="0">
                <a:solidFill>
                  <a:schemeClr val="tx1"/>
                </a:solidFill>
                <a:latin typeface="+mn-lt"/>
                <a:ea typeface="+mn-ea"/>
                <a:cs typeface="+mn-cs"/>
              </a:rPr>
              <a:t>Conical Representation of the structure: Done through red spot analysis</a:t>
            </a:r>
            <a:endParaRPr lang="en-US" sz="2800" dirty="0"/>
          </a:p>
        </p:txBody>
      </p:sp>
    </p:spTree>
    <p:extLst>
      <p:ext uri="{BB962C8B-B14F-4D97-AF65-F5344CB8AC3E}">
        <p14:creationId xmlns:p14="http://schemas.microsoft.com/office/powerpoint/2010/main" val="818728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C1F26A-40EF-D485-B312-205A61118869}"/>
              </a:ext>
            </a:extLst>
          </p:cNvPr>
          <p:cNvSpPr>
            <a:spLocks noGrp="1"/>
          </p:cNvSpPr>
          <p:nvPr>
            <p:ph type="title"/>
          </p:nvPr>
        </p:nvSpPr>
        <p:spPr>
          <a:xfrm>
            <a:off x="686834" y="1153572"/>
            <a:ext cx="3200400" cy="4461163"/>
          </a:xfrm>
        </p:spPr>
        <p:txBody>
          <a:bodyPr>
            <a:normAutofit/>
          </a:bodyPr>
          <a:lstStyle/>
          <a:p>
            <a:r>
              <a:rPr lang="en-US">
                <a:solidFill>
                  <a:srgbClr val="FFFFFF"/>
                </a:solidFill>
              </a:rPr>
              <a:t>Depth from defocus occurrence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D67D78C-60CF-694F-A07C-9D61AA8C8F46}"/>
              </a:ext>
            </a:extLst>
          </p:cNvPr>
          <p:cNvSpPr>
            <a:spLocks noGrp="1"/>
          </p:cNvSpPr>
          <p:nvPr>
            <p:ph idx="1"/>
          </p:nvPr>
        </p:nvSpPr>
        <p:spPr>
          <a:xfrm>
            <a:off x="4447308" y="591344"/>
            <a:ext cx="6906491" cy="5585619"/>
          </a:xfrm>
        </p:spPr>
        <p:txBody>
          <a:bodyPr anchor="ctr">
            <a:normAutofit/>
          </a:bodyPr>
          <a:lstStyle/>
          <a:p>
            <a:r>
              <a:rPr lang="en-US" dirty="0"/>
              <a:t>Used when we have one image/angle of a particular scene</a:t>
            </a:r>
          </a:p>
          <a:p>
            <a:r>
              <a:rPr lang="en-US" dirty="0"/>
              <a:t>Input: </a:t>
            </a:r>
            <a:r>
              <a:rPr lang="en-US" dirty="0" err="1"/>
              <a:t>GradCAM</a:t>
            </a:r>
            <a:r>
              <a:rPr lang="en-US" dirty="0"/>
              <a:t> gives us a blended image with the localization of our lesion</a:t>
            </a:r>
          </a:p>
          <a:p>
            <a:r>
              <a:rPr lang="en-US" dirty="0"/>
              <a:t>Canny Edge Detection gives us the edges (boundaries) of the localized image.</a:t>
            </a:r>
          </a:p>
          <a:p>
            <a:r>
              <a:rPr lang="en-US" dirty="0"/>
              <a:t>We apply Gaussian Blur for smoothing and getting a coherent depth map as our output</a:t>
            </a:r>
          </a:p>
          <a:p>
            <a:r>
              <a:rPr lang="en-US" dirty="0"/>
              <a:t>We apply the defocus method (using an alpha component) between the edge and blur to get an entire depth map as the output. </a:t>
            </a:r>
          </a:p>
          <a:p>
            <a:endParaRPr lang="en-US" dirty="0"/>
          </a:p>
        </p:txBody>
      </p:sp>
    </p:spTree>
    <p:extLst>
      <p:ext uri="{BB962C8B-B14F-4D97-AF65-F5344CB8AC3E}">
        <p14:creationId xmlns:p14="http://schemas.microsoft.com/office/powerpoint/2010/main" val="907651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D22D5E-5FCC-8E5F-4B76-606F33E9A0AB}"/>
              </a:ext>
            </a:extLst>
          </p:cNvPr>
          <p:cNvSpPr>
            <a:spLocks noGrp="1"/>
          </p:cNvSpPr>
          <p:nvPr>
            <p:ph type="title"/>
          </p:nvPr>
        </p:nvSpPr>
        <p:spPr>
          <a:xfrm>
            <a:off x="761802" y="240241"/>
            <a:ext cx="10760054" cy="1228299"/>
          </a:xfrm>
        </p:spPr>
        <p:txBody>
          <a:bodyPr>
            <a:normAutofit/>
          </a:bodyPr>
          <a:lstStyle/>
          <a:p>
            <a:r>
              <a:rPr lang="en-US" sz="4000" dirty="0"/>
              <a:t>3D Structure Representation</a:t>
            </a:r>
          </a:p>
        </p:txBody>
      </p:sp>
      <p:sp>
        <p:nvSpPr>
          <p:cNvPr id="3" name="Content Placeholder 2">
            <a:extLst>
              <a:ext uri="{FF2B5EF4-FFF2-40B4-BE49-F238E27FC236}">
                <a16:creationId xmlns:a16="http://schemas.microsoft.com/office/drawing/2014/main" id="{C5A60A86-9509-5916-807F-5D4A275760D4}"/>
              </a:ext>
            </a:extLst>
          </p:cNvPr>
          <p:cNvSpPr>
            <a:spLocks noGrp="1"/>
          </p:cNvSpPr>
          <p:nvPr>
            <p:ph idx="1"/>
          </p:nvPr>
        </p:nvSpPr>
        <p:spPr>
          <a:xfrm>
            <a:off x="761802" y="2321476"/>
            <a:ext cx="4864875" cy="3850724"/>
          </a:xfrm>
        </p:spPr>
        <p:txBody>
          <a:bodyPr anchor="ctr">
            <a:normAutofit/>
          </a:bodyPr>
          <a:lstStyle/>
          <a:p>
            <a:r>
              <a:rPr lang="en-US" sz="2400" dirty="0"/>
              <a:t>We use Gabor filters for the same.</a:t>
            </a:r>
          </a:p>
          <a:p>
            <a:r>
              <a:rPr lang="en-US" sz="2400" dirty="0"/>
              <a:t>Input: Depth map after defocus occurrence.</a:t>
            </a:r>
          </a:p>
          <a:p>
            <a:r>
              <a:rPr lang="en-US" sz="2400" dirty="0"/>
              <a:t>We use the </a:t>
            </a:r>
            <a:r>
              <a:rPr lang="en-US" sz="2400" dirty="0" err="1"/>
              <a:t>getGaborKernel</a:t>
            </a:r>
            <a:r>
              <a:rPr lang="en-US" sz="2400" dirty="0"/>
              <a:t> function of the cv2 library; we need to tune its hyperparameters effectively.</a:t>
            </a:r>
          </a:p>
          <a:p>
            <a:pPr marL="0" indent="0">
              <a:buNone/>
            </a:pPr>
            <a:endParaRPr lang="en-US" sz="2000" dirty="0"/>
          </a:p>
          <a:p>
            <a:endParaRPr lang="en-US" sz="2000" dirty="0"/>
          </a:p>
          <a:p>
            <a:endParaRPr lang="en-US" sz="2000" dirty="0"/>
          </a:p>
        </p:txBody>
      </p:sp>
      <p:graphicFrame>
        <p:nvGraphicFramePr>
          <p:cNvPr id="4" name="Table 3">
            <a:extLst>
              <a:ext uri="{FF2B5EF4-FFF2-40B4-BE49-F238E27FC236}">
                <a16:creationId xmlns:a16="http://schemas.microsoft.com/office/drawing/2014/main" id="{82AB10E0-2559-93A9-31B2-32F55B59BF79}"/>
              </a:ext>
            </a:extLst>
          </p:cNvPr>
          <p:cNvGraphicFramePr>
            <a:graphicFrameLocks noGrp="1"/>
          </p:cNvGraphicFramePr>
          <p:nvPr>
            <p:extLst>
              <p:ext uri="{D42A27DB-BD31-4B8C-83A1-F6EECF244321}">
                <p14:modId xmlns:p14="http://schemas.microsoft.com/office/powerpoint/2010/main" val="2765444934"/>
              </p:ext>
            </p:extLst>
          </p:nvPr>
        </p:nvGraphicFramePr>
        <p:xfrm>
          <a:off x="6267450" y="2012668"/>
          <a:ext cx="5425856" cy="4159532"/>
        </p:xfrm>
        <a:graphic>
          <a:graphicData uri="http://schemas.openxmlformats.org/drawingml/2006/table">
            <a:tbl>
              <a:tblPr firstRow="1" bandRow="1">
                <a:tableStyleId>{5C22544A-7EE6-4342-B048-85BDC9FD1C3A}</a:tableStyleId>
              </a:tblPr>
              <a:tblGrid>
                <a:gridCol w="2491387">
                  <a:extLst>
                    <a:ext uri="{9D8B030D-6E8A-4147-A177-3AD203B41FA5}">
                      <a16:colId xmlns:a16="http://schemas.microsoft.com/office/drawing/2014/main" val="2748270673"/>
                    </a:ext>
                  </a:extLst>
                </a:gridCol>
                <a:gridCol w="2934469">
                  <a:extLst>
                    <a:ext uri="{9D8B030D-6E8A-4147-A177-3AD203B41FA5}">
                      <a16:colId xmlns:a16="http://schemas.microsoft.com/office/drawing/2014/main" val="975685726"/>
                    </a:ext>
                  </a:extLst>
                </a:gridCol>
              </a:tblGrid>
              <a:tr h="610725">
                <a:tc>
                  <a:txBody>
                    <a:bodyPr/>
                    <a:lstStyle/>
                    <a:p>
                      <a:pPr algn="ctr"/>
                      <a:r>
                        <a:rPr lang="en-US" sz="1500"/>
                        <a:t>A few important hyperparameters</a:t>
                      </a:r>
                    </a:p>
                  </a:txBody>
                  <a:tcPr marL="75544" marR="75544" marT="37772" marB="37772"/>
                </a:tc>
                <a:tc>
                  <a:txBody>
                    <a:bodyPr/>
                    <a:lstStyle/>
                    <a:p>
                      <a:pPr algn="ctr"/>
                      <a:r>
                        <a:rPr lang="en-US" sz="1500" dirty="0"/>
                        <a:t>Values</a:t>
                      </a:r>
                    </a:p>
                  </a:txBody>
                  <a:tcPr marL="75544" marR="75544" marT="37772" marB="37772"/>
                </a:tc>
                <a:extLst>
                  <a:ext uri="{0D108BD9-81ED-4DB2-BD59-A6C34878D82A}">
                    <a16:rowId xmlns:a16="http://schemas.microsoft.com/office/drawing/2014/main" val="3860738051"/>
                  </a:ext>
                </a:extLst>
              </a:tr>
              <a:tr h="610725">
                <a:tc>
                  <a:txBody>
                    <a:bodyPr/>
                    <a:lstStyle/>
                    <a:p>
                      <a:pPr algn="ctr"/>
                      <a:r>
                        <a:rPr lang="en-US" sz="1500"/>
                        <a:t>Orientations of Gabor filters</a:t>
                      </a:r>
                    </a:p>
                  </a:txBody>
                  <a:tcPr marL="75544" marR="75544" marT="37772" marB="37772"/>
                </a:tc>
                <a:tc>
                  <a:txBody>
                    <a:bodyPr/>
                    <a:lstStyle/>
                    <a:p>
                      <a:pPr algn="ctr"/>
                      <a:r>
                        <a:rPr lang="en-US" sz="1500" dirty="0"/>
                        <a:t>0, pi/4, pi/2, 3*pi/4 (4 in number)</a:t>
                      </a:r>
                    </a:p>
                  </a:txBody>
                  <a:tcPr marL="75544" marR="75544" marT="37772" marB="37772"/>
                </a:tc>
                <a:extLst>
                  <a:ext uri="{0D108BD9-81ED-4DB2-BD59-A6C34878D82A}">
                    <a16:rowId xmlns:a16="http://schemas.microsoft.com/office/drawing/2014/main" val="228361582"/>
                  </a:ext>
                </a:extLst>
              </a:tr>
              <a:tr h="1105907">
                <a:tc>
                  <a:txBody>
                    <a:bodyPr/>
                    <a:lstStyle/>
                    <a:p>
                      <a:pPr algn="ctr"/>
                      <a:r>
                        <a:rPr lang="en-US" sz="1500"/>
                        <a:t>Frequency</a:t>
                      </a:r>
                    </a:p>
                  </a:txBody>
                  <a:tcPr marL="75544" marR="75544" marT="37772" marB="37772"/>
                </a:tc>
                <a:tc>
                  <a:txBody>
                    <a:bodyPr/>
                    <a:lstStyle/>
                    <a:p>
                      <a:pPr algn="ctr"/>
                      <a:r>
                        <a:rPr lang="en-US" sz="1500" dirty="0"/>
                        <a:t>For 0 and 90 degrees, 0.1 (finer details), and for the other two 0.4 (coarser details)</a:t>
                      </a:r>
                    </a:p>
                  </a:txBody>
                  <a:tcPr marL="75544" marR="75544" marT="37772" marB="37772"/>
                </a:tc>
                <a:extLst>
                  <a:ext uri="{0D108BD9-81ED-4DB2-BD59-A6C34878D82A}">
                    <a16:rowId xmlns:a16="http://schemas.microsoft.com/office/drawing/2014/main" val="1847077837"/>
                  </a:ext>
                </a:extLst>
              </a:tr>
              <a:tr h="610725">
                <a:tc>
                  <a:txBody>
                    <a:bodyPr/>
                    <a:lstStyle/>
                    <a:p>
                      <a:pPr algn="ctr"/>
                      <a:r>
                        <a:rPr lang="en-US" sz="1500"/>
                        <a:t>Sigma Value</a:t>
                      </a:r>
                    </a:p>
                  </a:txBody>
                  <a:tcPr marL="75544" marR="75544" marT="37772" marB="37772"/>
                </a:tc>
                <a:tc>
                  <a:txBody>
                    <a:bodyPr/>
                    <a:lstStyle/>
                    <a:p>
                      <a:pPr algn="ctr"/>
                      <a:r>
                        <a:rPr lang="en-US" sz="1500"/>
                        <a:t>0.01 for a sharper pixelated output</a:t>
                      </a:r>
                    </a:p>
                  </a:txBody>
                  <a:tcPr marL="75544" marR="75544" marT="37772" marB="37772"/>
                </a:tc>
                <a:extLst>
                  <a:ext uri="{0D108BD9-81ED-4DB2-BD59-A6C34878D82A}">
                    <a16:rowId xmlns:a16="http://schemas.microsoft.com/office/drawing/2014/main" val="3713363246"/>
                  </a:ext>
                </a:extLst>
              </a:tr>
              <a:tr h="610725">
                <a:tc>
                  <a:txBody>
                    <a:bodyPr/>
                    <a:lstStyle/>
                    <a:p>
                      <a:pPr algn="ctr"/>
                      <a:r>
                        <a:rPr lang="en-US" sz="1500"/>
                        <a:t>Size</a:t>
                      </a:r>
                    </a:p>
                  </a:txBody>
                  <a:tcPr marL="75544" marR="75544" marT="37772" marB="37772"/>
                </a:tc>
                <a:tc>
                  <a:txBody>
                    <a:bodyPr/>
                    <a:lstStyle/>
                    <a:p>
                      <a:pPr algn="ctr"/>
                      <a:r>
                        <a:rPr lang="en-US" sz="1500"/>
                        <a:t>(5,5) usually a commonly used size</a:t>
                      </a:r>
                    </a:p>
                  </a:txBody>
                  <a:tcPr marL="75544" marR="75544" marT="37772" marB="37772"/>
                </a:tc>
                <a:extLst>
                  <a:ext uri="{0D108BD9-81ED-4DB2-BD59-A6C34878D82A}">
                    <a16:rowId xmlns:a16="http://schemas.microsoft.com/office/drawing/2014/main" val="2152811421"/>
                  </a:ext>
                </a:extLst>
              </a:tr>
              <a:tr h="610725">
                <a:tc>
                  <a:txBody>
                    <a:bodyPr/>
                    <a:lstStyle/>
                    <a:p>
                      <a:pPr algn="ctr"/>
                      <a:r>
                        <a:rPr lang="en-US" sz="1500"/>
                        <a:t>Gamma Value</a:t>
                      </a:r>
                    </a:p>
                  </a:txBody>
                  <a:tcPr marL="75544" marR="75544" marT="37772" marB="37772"/>
                </a:tc>
                <a:tc>
                  <a:txBody>
                    <a:bodyPr/>
                    <a:lstStyle/>
                    <a:p>
                      <a:pPr algn="ctr"/>
                      <a:r>
                        <a:rPr lang="en-US" sz="1500" dirty="0"/>
                        <a:t>0.5 for finer texture representation</a:t>
                      </a:r>
                    </a:p>
                  </a:txBody>
                  <a:tcPr marL="75544" marR="75544" marT="37772" marB="37772"/>
                </a:tc>
                <a:extLst>
                  <a:ext uri="{0D108BD9-81ED-4DB2-BD59-A6C34878D82A}">
                    <a16:rowId xmlns:a16="http://schemas.microsoft.com/office/drawing/2014/main" val="716742138"/>
                  </a:ext>
                </a:extLst>
              </a:tr>
            </a:tbl>
          </a:graphicData>
        </a:graphic>
      </p:graphicFrame>
    </p:spTree>
    <p:extLst>
      <p:ext uri="{BB962C8B-B14F-4D97-AF65-F5344CB8AC3E}">
        <p14:creationId xmlns:p14="http://schemas.microsoft.com/office/powerpoint/2010/main" val="2998928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C3A1C5F-43C5-2F3F-542F-110BBF0B0606}"/>
              </a:ext>
            </a:extLst>
          </p:cNvPr>
          <p:cNvSpPr>
            <a:spLocks noGrp="1"/>
          </p:cNvSpPr>
          <p:nvPr>
            <p:ph type="title"/>
          </p:nvPr>
        </p:nvSpPr>
        <p:spPr>
          <a:xfrm>
            <a:off x="1046746" y="586822"/>
            <a:ext cx="3560252" cy="1645920"/>
          </a:xfrm>
        </p:spPr>
        <p:txBody>
          <a:bodyPr>
            <a:normAutofit/>
          </a:bodyPr>
          <a:lstStyle/>
          <a:p>
            <a:r>
              <a:rPr lang="en-US" sz="3200"/>
              <a:t>Conical Representation</a:t>
            </a:r>
          </a:p>
        </p:txBody>
      </p:sp>
      <p:sp>
        <p:nvSpPr>
          <p:cNvPr id="14" name="Rectangle 13">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6" name="Rectangle 15">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3AC6BFF-9C72-D3C4-6A7E-72356F9E5640}"/>
              </a:ext>
            </a:extLst>
          </p:cNvPr>
          <p:cNvSpPr>
            <a:spLocks noGrp="1"/>
          </p:cNvSpPr>
          <p:nvPr>
            <p:ph idx="1"/>
          </p:nvPr>
        </p:nvSpPr>
        <p:spPr>
          <a:xfrm>
            <a:off x="5447164" y="1318342"/>
            <a:ext cx="6002636" cy="1645920"/>
          </a:xfrm>
        </p:spPr>
        <p:txBody>
          <a:bodyPr anchor="ctr">
            <a:normAutofit/>
          </a:bodyPr>
          <a:lstStyle/>
          <a:p>
            <a:r>
              <a:rPr lang="en-US" sz="2000" dirty="0"/>
              <a:t>The primary goal is to use these red-spot numbers (infected areas) to create a conical structure. </a:t>
            </a:r>
          </a:p>
          <a:p>
            <a:r>
              <a:rPr lang="en-US" sz="2000" dirty="0"/>
              <a:t>Each value is considered as a base of the cone </a:t>
            </a:r>
          </a:p>
          <a:p>
            <a:endParaRPr lang="en-US" sz="2000" dirty="0"/>
          </a:p>
          <a:p>
            <a:pPr marL="0" indent="0">
              <a:buNone/>
            </a:pPr>
            <a:endParaRPr lang="en-US" sz="1800" dirty="0"/>
          </a:p>
          <a:p>
            <a:pPr marL="0" indent="0">
              <a:buNone/>
            </a:pPr>
            <a:endParaRPr lang="en-US" sz="1800" dirty="0"/>
          </a:p>
          <a:p>
            <a:endParaRPr lang="en-US" sz="1800" dirty="0"/>
          </a:p>
        </p:txBody>
      </p:sp>
      <p:pic>
        <p:nvPicPr>
          <p:cNvPr id="5" name="Picture 4" descr="A table with numbers and a number of red spots&#10;&#10;Description automatically generated">
            <a:extLst>
              <a:ext uri="{FF2B5EF4-FFF2-40B4-BE49-F238E27FC236}">
                <a16:creationId xmlns:a16="http://schemas.microsoft.com/office/drawing/2014/main" id="{559FAC1B-AEFD-2ABF-89FC-B3B0844C65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570" y="2630973"/>
            <a:ext cx="8060690" cy="4050496"/>
          </a:xfrm>
          <a:prstGeom prst="rect">
            <a:avLst/>
          </a:prstGeom>
        </p:spPr>
      </p:pic>
      <p:sp>
        <p:nvSpPr>
          <p:cNvPr id="4" name="TextBox 3">
            <a:extLst>
              <a:ext uri="{FF2B5EF4-FFF2-40B4-BE49-F238E27FC236}">
                <a16:creationId xmlns:a16="http://schemas.microsoft.com/office/drawing/2014/main" id="{0C39D9AC-D8E4-F4CA-A4FC-C8E9F56A8604}"/>
              </a:ext>
            </a:extLst>
          </p:cNvPr>
          <p:cNvSpPr txBox="1"/>
          <p:nvPr/>
        </p:nvSpPr>
        <p:spPr>
          <a:xfrm>
            <a:off x="8809830" y="2630973"/>
            <a:ext cx="3102930" cy="4093428"/>
          </a:xfrm>
          <a:prstGeom prst="rect">
            <a:avLst/>
          </a:prstGeom>
          <a:noFill/>
        </p:spPr>
        <p:txBody>
          <a:bodyPr wrap="square" rtlCol="0">
            <a:spAutoFit/>
          </a:bodyPr>
          <a:lstStyle/>
          <a:p>
            <a:r>
              <a:rPr lang="en-US" sz="2000" dirty="0"/>
              <a:t>The first column tells us the depth units beneath the skin, where 0 represents the skin’s surface</a:t>
            </a:r>
          </a:p>
          <a:p>
            <a:endParaRPr lang="en-US" sz="2000" dirty="0"/>
          </a:p>
          <a:p>
            <a:r>
              <a:rPr lang="en-US" sz="2000" dirty="0"/>
              <a:t>The other columns indicate the number of red spots beneath that depth value.</a:t>
            </a:r>
          </a:p>
          <a:p>
            <a:endParaRPr lang="en-US" sz="2000" dirty="0"/>
          </a:p>
          <a:p>
            <a:r>
              <a:rPr lang="en-US" sz="2000" dirty="0"/>
              <a:t>A malignant lesion will have a higher volume of lesions and proceed deeper into the skin.</a:t>
            </a:r>
          </a:p>
        </p:txBody>
      </p:sp>
    </p:spTree>
    <p:extLst>
      <p:ext uri="{BB962C8B-B14F-4D97-AF65-F5344CB8AC3E}">
        <p14:creationId xmlns:p14="http://schemas.microsoft.com/office/powerpoint/2010/main" val="2066533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076A2-FFC8-9293-F70A-3096CA2BC748}"/>
              </a:ext>
            </a:extLst>
          </p:cNvPr>
          <p:cNvSpPr>
            <a:spLocks noGrp="1"/>
          </p:cNvSpPr>
          <p:nvPr>
            <p:ph type="title"/>
          </p:nvPr>
        </p:nvSpPr>
        <p:spPr>
          <a:xfrm>
            <a:off x="403860" y="18255"/>
            <a:ext cx="10515600" cy="1325563"/>
          </a:xfrm>
        </p:spPr>
        <p:txBody>
          <a:bodyPr/>
          <a:lstStyle/>
          <a:p>
            <a:r>
              <a:rPr lang="en-US"/>
              <a:t>Results</a:t>
            </a:r>
            <a:endParaRPr lang="en-US" dirty="0"/>
          </a:p>
        </p:txBody>
      </p:sp>
      <p:pic>
        <p:nvPicPr>
          <p:cNvPr id="13" name="Content Placeholder 12" descr="A screenshot of a computer screen&#10;&#10;Description automatically generated">
            <a:extLst>
              <a:ext uri="{FF2B5EF4-FFF2-40B4-BE49-F238E27FC236}">
                <a16:creationId xmlns:a16="http://schemas.microsoft.com/office/drawing/2014/main" id="{95B484D5-02A0-2261-9B36-CFDF58CECB8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450723" y="0"/>
            <a:ext cx="7188827" cy="6612298"/>
          </a:xfrm>
        </p:spPr>
      </p:pic>
      <p:sp>
        <p:nvSpPr>
          <p:cNvPr id="19" name="TextBox 18">
            <a:extLst>
              <a:ext uri="{FF2B5EF4-FFF2-40B4-BE49-F238E27FC236}">
                <a16:creationId xmlns:a16="http://schemas.microsoft.com/office/drawing/2014/main" id="{49DB2277-22C7-19BB-C71B-B4ECC4605C46}"/>
              </a:ext>
            </a:extLst>
          </p:cNvPr>
          <p:cNvSpPr txBox="1"/>
          <p:nvPr/>
        </p:nvSpPr>
        <p:spPr>
          <a:xfrm>
            <a:off x="403860" y="1165860"/>
            <a:ext cx="3768090" cy="5324535"/>
          </a:xfrm>
          <a:prstGeom prst="rect">
            <a:avLst/>
          </a:prstGeom>
          <a:noFill/>
        </p:spPr>
        <p:txBody>
          <a:bodyPr wrap="square" rtlCol="0">
            <a:spAutoFit/>
          </a:bodyPr>
          <a:lstStyle/>
          <a:p>
            <a:pPr marL="342900" indent="-342900">
              <a:buAutoNum type="arabicPeriod"/>
            </a:pPr>
            <a:r>
              <a:rPr lang="en-US" sz="2000" dirty="0"/>
              <a:t>Original Image: The input image of the skin lesion</a:t>
            </a:r>
          </a:p>
          <a:p>
            <a:pPr marL="342900" indent="-342900">
              <a:buAutoNum type="arabicPeriod"/>
            </a:pPr>
            <a:r>
              <a:rPr lang="en-US" sz="2000" dirty="0" err="1"/>
              <a:t>superImposedImg</a:t>
            </a:r>
            <a:r>
              <a:rPr lang="en-US" sz="2000" dirty="0"/>
              <a:t>: The image after </a:t>
            </a:r>
            <a:r>
              <a:rPr lang="en-US" sz="2000" dirty="0" err="1"/>
              <a:t>GradCAM</a:t>
            </a:r>
            <a:r>
              <a:rPr lang="en-US" sz="2000" dirty="0"/>
              <a:t> is applied</a:t>
            </a:r>
          </a:p>
          <a:p>
            <a:pPr marL="342900" indent="-342900">
              <a:buAutoNum type="arabicPeriod"/>
            </a:pPr>
            <a:r>
              <a:rPr lang="en-US" sz="2000" dirty="0"/>
              <a:t>Defocus Occurrence: Depth map of the output from </a:t>
            </a:r>
            <a:r>
              <a:rPr lang="en-US" sz="2000" dirty="0" err="1"/>
              <a:t>GradCAM</a:t>
            </a:r>
            <a:r>
              <a:rPr lang="en-US" sz="2000" dirty="0"/>
              <a:t>.</a:t>
            </a:r>
          </a:p>
          <a:p>
            <a:pPr marL="342900" indent="-342900">
              <a:buAutoNum type="arabicPeriod"/>
            </a:pPr>
            <a:r>
              <a:rPr lang="en-US" sz="2000" dirty="0"/>
              <a:t>The Cube: Represents the 3D structure representation after the Gabor filters have been used</a:t>
            </a:r>
          </a:p>
          <a:p>
            <a:pPr marL="342900" indent="-342900">
              <a:buAutoNum type="arabicPeriod"/>
            </a:pPr>
            <a:r>
              <a:rPr lang="en-US" sz="2000" dirty="0"/>
              <a:t>Conic Surface: The Depth of the lesion is displayed as a conical structure after red spot analysis. This is visualized through the MR headset for a detailed analysis</a:t>
            </a:r>
          </a:p>
        </p:txBody>
      </p:sp>
    </p:spTree>
    <p:extLst>
      <p:ext uri="{BB962C8B-B14F-4D97-AF65-F5344CB8AC3E}">
        <p14:creationId xmlns:p14="http://schemas.microsoft.com/office/powerpoint/2010/main" val="136914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3A039-69EA-F31F-2085-23F447206D9F}"/>
              </a:ext>
            </a:extLst>
          </p:cNvPr>
          <p:cNvSpPr>
            <a:spLocks noGrp="1"/>
          </p:cNvSpPr>
          <p:nvPr>
            <p:ph type="title"/>
          </p:nvPr>
        </p:nvSpPr>
        <p:spPr>
          <a:xfrm>
            <a:off x="763555" y="47885"/>
            <a:ext cx="10515600" cy="1325563"/>
          </a:xfrm>
        </p:spPr>
        <p:txBody>
          <a:bodyPr/>
          <a:lstStyle/>
          <a:p>
            <a:r>
              <a:rPr lang="en-US" dirty="0"/>
              <a:t>Conclusions from the Result</a:t>
            </a:r>
          </a:p>
        </p:txBody>
      </p:sp>
      <p:sp>
        <p:nvSpPr>
          <p:cNvPr id="3" name="Content Placeholder 2">
            <a:extLst>
              <a:ext uri="{FF2B5EF4-FFF2-40B4-BE49-F238E27FC236}">
                <a16:creationId xmlns:a16="http://schemas.microsoft.com/office/drawing/2014/main" id="{479388F6-2735-7CA9-A391-339DAF25CD9D}"/>
              </a:ext>
            </a:extLst>
          </p:cNvPr>
          <p:cNvSpPr>
            <a:spLocks noGrp="1"/>
          </p:cNvSpPr>
          <p:nvPr>
            <p:ph idx="1"/>
          </p:nvPr>
        </p:nvSpPr>
        <p:spPr>
          <a:xfrm>
            <a:off x="763555" y="1373448"/>
            <a:ext cx="10515600" cy="4351338"/>
          </a:xfrm>
        </p:spPr>
        <p:txBody>
          <a:bodyPr/>
          <a:lstStyle/>
          <a:p>
            <a:r>
              <a:rPr lang="en-US" dirty="0"/>
              <a:t>The neural model gives us satisfactory value for all evaluation metrics, despite a Class Activation Map layer being present. </a:t>
            </a:r>
          </a:p>
          <a:p>
            <a:r>
              <a:rPr lang="en-US" dirty="0"/>
              <a:t>There may have been a mild increase in these values because of the XAI manipulations.</a:t>
            </a:r>
          </a:p>
          <a:p>
            <a:pPr marL="0" indent="0">
              <a:buNone/>
            </a:pPr>
            <a:endParaRPr lang="en-US" dirty="0"/>
          </a:p>
          <a:p>
            <a:endParaRPr lang="en-US" dirty="0"/>
          </a:p>
        </p:txBody>
      </p:sp>
      <p:graphicFrame>
        <p:nvGraphicFramePr>
          <p:cNvPr id="4" name="Table 3">
            <a:extLst>
              <a:ext uri="{FF2B5EF4-FFF2-40B4-BE49-F238E27FC236}">
                <a16:creationId xmlns:a16="http://schemas.microsoft.com/office/drawing/2014/main" id="{0FD8C930-4C4A-1F3A-194A-332DFB808500}"/>
              </a:ext>
            </a:extLst>
          </p:cNvPr>
          <p:cNvGraphicFramePr>
            <a:graphicFrameLocks noGrp="1"/>
          </p:cNvGraphicFramePr>
          <p:nvPr>
            <p:extLst>
              <p:ext uri="{D42A27DB-BD31-4B8C-83A1-F6EECF244321}">
                <p14:modId xmlns:p14="http://schemas.microsoft.com/office/powerpoint/2010/main" val="2465648857"/>
              </p:ext>
            </p:extLst>
          </p:nvPr>
        </p:nvGraphicFramePr>
        <p:xfrm>
          <a:off x="1438986" y="3289299"/>
          <a:ext cx="9163700" cy="3083510"/>
        </p:xfrm>
        <a:graphic>
          <a:graphicData uri="http://schemas.openxmlformats.org/drawingml/2006/table">
            <a:tbl>
              <a:tblPr firstRow="1" bandRow="1">
                <a:tableStyleId>{5C22544A-7EE6-4342-B048-85BDC9FD1C3A}</a:tableStyleId>
              </a:tblPr>
              <a:tblGrid>
                <a:gridCol w="4581850">
                  <a:extLst>
                    <a:ext uri="{9D8B030D-6E8A-4147-A177-3AD203B41FA5}">
                      <a16:colId xmlns:a16="http://schemas.microsoft.com/office/drawing/2014/main" val="3645199967"/>
                    </a:ext>
                  </a:extLst>
                </a:gridCol>
                <a:gridCol w="4581850">
                  <a:extLst>
                    <a:ext uri="{9D8B030D-6E8A-4147-A177-3AD203B41FA5}">
                      <a16:colId xmlns:a16="http://schemas.microsoft.com/office/drawing/2014/main" val="2191662370"/>
                    </a:ext>
                  </a:extLst>
                </a:gridCol>
              </a:tblGrid>
              <a:tr h="445735">
                <a:tc>
                  <a:txBody>
                    <a:bodyPr/>
                    <a:lstStyle/>
                    <a:p>
                      <a:pPr algn="ctr"/>
                      <a:r>
                        <a:rPr lang="en-US" dirty="0"/>
                        <a:t>Benign lesion (Case a and c)</a:t>
                      </a:r>
                    </a:p>
                  </a:txBody>
                  <a:tcPr/>
                </a:tc>
                <a:tc>
                  <a:txBody>
                    <a:bodyPr/>
                    <a:lstStyle/>
                    <a:p>
                      <a:pPr algn="ctr"/>
                      <a:r>
                        <a:rPr lang="en-US" dirty="0"/>
                        <a:t>Malignant lesion (Case b and d)</a:t>
                      </a:r>
                    </a:p>
                  </a:txBody>
                  <a:tcPr/>
                </a:tc>
                <a:extLst>
                  <a:ext uri="{0D108BD9-81ED-4DB2-BD59-A6C34878D82A}">
                    <a16:rowId xmlns:a16="http://schemas.microsoft.com/office/drawing/2014/main" val="3537150234"/>
                  </a:ext>
                </a:extLst>
              </a:tr>
              <a:tr h="769351">
                <a:tc>
                  <a:txBody>
                    <a:bodyPr/>
                    <a:lstStyle/>
                    <a:p>
                      <a:pPr algn="ctr"/>
                      <a:r>
                        <a:rPr lang="en-US" dirty="0"/>
                        <a:t>Does not have a significant defocus boundary.</a:t>
                      </a:r>
                    </a:p>
                  </a:txBody>
                  <a:tcPr/>
                </a:tc>
                <a:tc>
                  <a:txBody>
                    <a:bodyPr/>
                    <a:lstStyle/>
                    <a:p>
                      <a:pPr algn="ctr"/>
                      <a:r>
                        <a:rPr lang="en-US" dirty="0"/>
                        <a:t>Does have a defocus boundary.</a:t>
                      </a:r>
                    </a:p>
                  </a:txBody>
                  <a:tcPr/>
                </a:tc>
                <a:extLst>
                  <a:ext uri="{0D108BD9-81ED-4DB2-BD59-A6C34878D82A}">
                    <a16:rowId xmlns:a16="http://schemas.microsoft.com/office/drawing/2014/main" val="1881038461"/>
                  </a:ext>
                </a:extLst>
              </a:tr>
              <a:tr h="1099073">
                <a:tc>
                  <a:txBody>
                    <a:bodyPr/>
                    <a:lstStyle/>
                    <a:p>
                      <a:pPr algn="ctr"/>
                      <a:r>
                        <a:rPr lang="en-US" dirty="0"/>
                        <a:t>Due to the lack of the boundary, it is mildly covered by red spots.</a:t>
                      </a:r>
                    </a:p>
                  </a:txBody>
                  <a:tcPr/>
                </a:tc>
                <a:tc>
                  <a:txBody>
                    <a:bodyPr/>
                    <a:lstStyle/>
                    <a:p>
                      <a:pPr algn="ctr"/>
                      <a:r>
                        <a:rPr lang="en-US" dirty="0"/>
                        <a:t>Due to the presence of a boundary difference in depth, it has greater red spots.</a:t>
                      </a:r>
                    </a:p>
                  </a:txBody>
                  <a:tcPr/>
                </a:tc>
                <a:extLst>
                  <a:ext uri="{0D108BD9-81ED-4DB2-BD59-A6C34878D82A}">
                    <a16:rowId xmlns:a16="http://schemas.microsoft.com/office/drawing/2014/main" val="1292863941"/>
                  </a:ext>
                </a:extLst>
              </a:tr>
              <a:tr h="769351">
                <a:tc>
                  <a:txBody>
                    <a:bodyPr/>
                    <a:lstStyle/>
                    <a:p>
                      <a:pPr algn="ctr"/>
                      <a:r>
                        <a:rPr lang="en-US" dirty="0"/>
                        <a:t>The Conic Structure is not very deep and has few fractions.</a:t>
                      </a:r>
                    </a:p>
                  </a:txBody>
                  <a:tcPr/>
                </a:tc>
                <a:tc>
                  <a:txBody>
                    <a:bodyPr/>
                    <a:lstStyle/>
                    <a:p>
                      <a:pPr algn="ctr"/>
                      <a:r>
                        <a:rPr lang="en-US" dirty="0"/>
                        <a:t>The conic structure is deeper and has more fractions compared to the other case.</a:t>
                      </a:r>
                    </a:p>
                  </a:txBody>
                  <a:tcPr/>
                </a:tc>
                <a:extLst>
                  <a:ext uri="{0D108BD9-81ED-4DB2-BD59-A6C34878D82A}">
                    <a16:rowId xmlns:a16="http://schemas.microsoft.com/office/drawing/2014/main" val="65007078"/>
                  </a:ext>
                </a:extLst>
              </a:tr>
            </a:tbl>
          </a:graphicData>
        </a:graphic>
      </p:graphicFrame>
    </p:spTree>
    <p:extLst>
      <p:ext uri="{BB962C8B-B14F-4D97-AF65-F5344CB8AC3E}">
        <p14:creationId xmlns:p14="http://schemas.microsoft.com/office/powerpoint/2010/main" val="1759682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26ACD5-CE41-3565-9953-519E5E70DCC3}"/>
              </a:ext>
            </a:extLst>
          </p:cNvPr>
          <p:cNvSpPr>
            <a:spLocks noGrp="1"/>
          </p:cNvSpPr>
          <p:nvPr>
            <p:ph type="title"/>
          </p:nvPr>
        </p:nvSpPr>
        <p:spPr>
          <a:xfrm>
            <a:off x="838200" y="459863"/>
            <a:ext cx="10515600" cy="1004594"/>
          </a:xfrm>
        </p:spPr>
        <p:txBody>
          <a:bodyPr>
            <a:normAutofit/>
          </a:bodyPr>
          <a:lstStyle/>
          <a:p>
            <a:pPr algn="ctr"/>
            <a:r>
              <a:rPr lang="en-US">
                <a:solidFill>
                  <a:srgbClr val="FFFFFF"/>
                </a:solidFill>
              </a:rPr>
              <a:t>Future Work</a:t>
            </a:r>
          </a:p>
        </p:txBody>
      </p:sp>
      <p:sp>
        <p:nvSpPr>
          <p:cNvPr id="20" name="Rectangle: Rounded Corners 19">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Content Placeholder 2">
            <a:extLst>
              <a:ext uri="{FF2B5EF4-FFF2-40B4-BE49-F238E27FC236}">
                <a16:creationId xmlns:a16="http://schemas.microsoft.com/office/drawing/2014/main" id="{15500AD4-CCD2-7037-8C41-CD9357CB4C93}"/>
              </a:ext>
            </a:extLst>
          </p:cNvPr>
          <p:cNvGraphicFramePr>
            <a:graphicFrameLocks noGrp="1"/>
          </p:cNvGraphicFramePr>
          <p:nvPr>
            <p:ph idx="1"/>
            <p:extLst>
              <p:ext uri="{D42A27DB-BD31-4B8C-83A1-F6EECF244321}">
                <p14:modId xmlns:p14="http://schemas.microsoft.com/office/powerpoint/2010/main" val="1223422023"/>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9046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05CDBCA-DCC4-E9D6-91C1-CC986AF09588}"/>
              </a:ext>
            </a:extLst>
          </p:cNvPr>
          <p:cNvSpPr>
            <a:spLocks noGrp="1"/>
          </p:cNvSpPr>
          <p:nvPr>
            <p:ph type="title"/>
          </p:nvPr>
        </p:nvSpPr>
        <p:spPr>
          <a:xfrm>
            <a:off x="1115568" y="548640"/>
            <a:ext cx="10168128" cy="1179576"/>
          </a:xfrm>
        </p:spPr>
        <p:txBody>
          <a:bodyPr>
            <a:normAutofit/>
          </a:bodyPr>
          <a:lstStyle/>
          <a:p>
            <a:r>
              <a:rPr lang="en-US" sz="4000"/>
              <a:t>References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Content Placeholder 2">
            <a:extLst>
              <a:ext uri="{FF2B5EF4-FFF2-40B4-BE49-F238E27FC236}">
                <a16:creationId xmlns:a16="http://schemas.microsoft.com/office/drawing/2014/main" id="{67168A07-F80C-A81A-6C10-1307B6AA37D7}"/>
              </a:ext>
            </a:extLst>
          </p:cNvPr>
          <p:cNvSpPr>
            <a:spLocks noGrp="1"/>
          </p:cNvSpPr>
          <p:nvPr>
            <p:ph idx="1"/>
          </p:nvPr>
        </p:nvSpPr>
        <p:spPr>
          <a:xfrm>
            <a:off x="1115568" y="2481943"/>
            <a:ext cx="10168128" cy="3695020"/>
          </a:xfrm>
        </p:spPr>
        <p:txBody>
          <a:bodyPr>
            <a:normAutofit/>
          </a:bodyPr>
          <a:lstStyle/>
          <a:p>
            <a:r>
              <a:rPr lang="en-US" sz="2200" i="1"/>
              <a:t>P. Parekh and R. Oyeleke. In Towards Enhancing Extended 605 Reality for Healthcare Applications with Machine Learning. 606 AIVR [Manuscript in Preparation], 2023.</a:t>
            </a:r>
          </a:p>
          <a:p>
            <a:r>
              <a:rPr lang="en-US" sz="2200" i="1"/>
              <a:t>T. Y. Satheesha, D. Satyanarayana, M. G. Prasad, and K. D. 586 Dhruve. Melanoma is skin deep: a 3d reconstruction tech- 587 nique for computerized dermoscopic skin lesion classifica- 588 tion. IEEE journal of translational engineering in health 589 and medicine, 5:1–17, 2017.</a:t>
            </a:r>
          </a:p>
          <a:p>
            <a:r>
              <a:rPr lang="en-US" sz="2200" i="1"/>
              <a:t>R. R. Selvaraju, A. Das, R. Vedantam, M. Cogswell, 667 D. Parikh, and D. Batra. Grad-cam: Why did you say that?. 668 arxiv. In preprint, 2016.</a:t>
            </a:r>
          </a:p>
          <a:p>
            <a:r>
              <a:rPr lang="en-US" sz="2200" i="1"/>
              <a:t>S. Zhuo and T. Sim. Defocus map estimation from a single 688 image. Pattern Recognition, 44(9):1852–1858, 2011.</a:t>
            </a:r>
          </a:p>
        </p:txBody>
      </p:sp>
    </p:spTree>
    <p:extLst>
      <p:ext uri="{BB962C8B-B14F-4D97-AF65-F5344CB8AC3E}">
        <p14:creationId xmlns:p14="http://schemas.microsoft.com/office/powerpoint/2010/main" val="3737787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23165F-CC6A-37AE-8748-1E940D7A849E}"/>
              </a:ext>
            </a:extLst>
          </p:cNvPr>
          <p:cNvSpPr>
            <a:spLocks noGrp="1"/>
          </p:cNvSpPr>
          <p:nvPr>
            <p:ph type="ctrTitle"/>
          </p:nvPr>
        </p:nvSpPr>
        <p:spPr>
          <a:xfrm>
            <a:off x="838199" y="1093788"/>
            <a:ext cx="10506455" cy="2967208"/>
          </a:xfrm>
        </p:spPr>
        <p:txBody>
          <a:bodyPr>
            <a:normAutofit/>
          </a:bodyPr>
          <a:lstStyle/>
          <a:p>
            <a:pPr algn="l"/>
            <a:r>
              <a:rPr lang="en-US" sz="8000"/>
              <a:t>Thank you</a:t>
            </a:r>
          </a:p>
        </p:txBody>
      </p:sp>
      <p:sp>
        <p:nvSpPr>
          <p:cNvPr id="3" name="Subtitle 2">
            <a:extLst>
              <a:ext uri="{FF2B5EF4-FFF2-40B4-BE49-F238E27FC236}">
                <a16:creationId xmlns:a16="http://schemas.microsoft.com/office/drawing/2014/main" id="{B2A98B4F-5BC7-BAAE-87FA-AC0A6AC1E453}"/>
              </a:ext>
            </a:extLst>
          </p:cNvPr>
          <p:cNvSpPr>
            <a:spLocks noGrp="1"/>
          </p:cNvSpPr>
          <p:nvPr>
            <p:ph type="subTitle" idx="1"/>
          </p:nvPr>
        </p:nvSpPr>
        <p:spPr>
          <a:xfrm>
            <a:off x="7400924" y="4619624"/>
            <a:ext cx="3946779" cy="1038225"/>
          </a:xfrm>
        </p:spPr>
        <p:txBody>
          <a:bodyPr>
            <a:normAutofit/>
          </a:bodyPr>
          <a:lstStyle/>
          <a:p>
            <a:pPr algn="r"/>
            <a:r>
              <a:rPr lang="en-US" dirty="0"/>
              <a:t>Pranav Parekh</a:t>
            </a:r>
          </a:p>
        </p:txBody>
      </p:sp>
      <p:sp>
        <p:nvSpPr>
          <p:cNvPr id="10" name="Rectangle 9">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164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5645</TotalTime>
  <Words>2211</Words>
  <Application>Microsoft Office PowerPoint</Application>
  <PresentationFormat>Widescreen</PresentationFormat>
  <Paragraphs>159</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Treatment Visualization</vt:lpstr>
      <vt:lpstr>Outline</vt:lpstr>
      <vt:lpstr>Introduction</vt:lpstr>
      <vt:lpstr>Key Literature</vt:lpstr>
      <vt:lpstr>Methodology: ML + XAI</vt:lpstr>
      <vt:lpstr>Dataset Preprocessing</vt:lpstr>
      <vt:lpstr>Model</vt:lpstr>
      <vt:lpstr>GradCAM algorithm</vt:lpstr>
      <vt:lpstr>Model Results </vt:lpstr>
      <vt:lpstr>Methodology: 3D Hologram Generation</vt:lpstr>
      <vt:lpstr>Depth from defocus occurrence</vt:lpstr>
      <vt:lpstr>3D Structure Representation</vt:lpstr>
      <vt:lpstr>Conical Representation</vt:lpstr>
      <vt:lpstr>Results</vt:lpstr>
      <vt:lpstr>Conclusions from the Result</vt:lpstr>
      <vt:lpstr>Future Work</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Treatment Visualizations</dc:title>
  <dc:creator>Pranav Parekh</dc:creator>
  <cp:lastModifiedBy>ketan Parekh</cp:lastModifiedBy>
  <cp:revision>36</cp:revision>
  <dcterms:created xsi:type="dcterms:W3CDTF">2023-11-20T22:41:42Z</dcterms:created>
  <dcterms:modified xsi:type="dcterms:W3CDTF">2023-11-29T15:44:10Z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3fd474-4f3c-44ed-88fb-5cc4bd2471bf_Enabled">
    <vt:lpwstr>true</vt:lpwstr>
  </property>
  <property fmtid="{D5CDD505-2E9C-101B-9397-08002B2CF9AE}" pid="3" name="MSIP_Label_a73fd474-4f3c-44ed-88fb-5cc4bd2471bf_SetDate">
    <vt:lpwstr>2023-11-20T23:09:49Z</vt:lpwstr>
  </property>
  <property fmtid="{D5CDD505-2E9C-101B-9397-08002B2CF9AE}" pid="4" name="MSIP_Label_a73fd474-4f3c-44ed-88fb-5cc4bd2471bf_Method">
    <vt:lpwstr>Standard</vt:lpwstr>
  </property>
  <property fmtid="{D5CDD505-2E9C-101B-9397-08002B2CF9AE}" pid="5" name="MSIP_Label_a73fd474-4f3c-44ed-88fb-5cc4bd2471bf_Name">
    <vt:lpwstr>defa4170-0d19-0005-0004-bc88714345d2</vt:lpwstr>
  </property>
  <property fmtid="{D5CDD505-2E9C-101B-9397-08002B2CF9AE}" pid="6" name="MSIP_Label_a73fd474-4f3c-44ed-88fb-5cc4bd2471bf_SiteId">
    <vt:lpwstr>8d1a69ec-03b5-4345-ae21-dad112f5fb4f</vt:lpwstr>
  </property>
  <property fmtid="{D5CDD505-2E9C-101B-9397-08002B2CF9AE}" pid="7" name="MSIP_Label_a73fd474-4f3c-44ed-88fb-5cc4bd2471bf_ActionId">
    <vt:lpwstr>d02126c1-dda9-468e-947b-ccee08bdbf6e</vt:lpwstr>
  </property>
  <property fmtid="{D5CDD505-2E9C-101B-9397-08002B2CF9AE}" pid="8" name="MSIP_Label_a73fd474-4f3c-44ed-88fb-5cc4bd2471bf_ContentBits">
    <vt:lpwstr>0</vt:lpwstr>
  </property>
</Properties>
</file>